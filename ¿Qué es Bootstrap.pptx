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2" r:id="rId7"/>
    <p:sldId id="263" r:id="rId8"/>
    <p:sldId id="264" r:id="rId9"/>
    <p:sldId id="265" r:id="rId10"/>
    <p:sldId id="267" r:id="rId11"/>
  </p:sldIdLst>
  <p:sldSz cx="12192000" cy="6858000"/>
  <p:notesSz cx="6858000" cy="12192000"/>
  <p:embeddedFontLst>
    <p:embeddedFont>
      <p:font typeface="JetBrains Mono" panose="020B0604020202020204" charset="0"/>
      <p:regular r:id="rId13"/>
      <p:bold r:id="rId14"/>
    </p:embeddedFont>
    <p:embeddedFont>
      <p:font typeface="Space Grotesk" panose="020B060402020202020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48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Bootstrap es el framework de CSS y JavaScript más usado para hacer sitios responsive. Hoy vamos a ver qué es, cómo se instala y cómo aprovechar sus componentes copiando y pegando código.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clave: Bootstrap ya diseñó los estilos; nosotros solo escribimos HTML con las clases correctas. Por eso se puede copiar código de la documentación y funciona.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CDN significa que el archivo se carga desde internet, no hace falta descargar nada. El CSS da los estilos; el JavaScript le da vida a componentes como el carrusel o los modales. Los tres scripts deben ir en ese orden porque Bootstrap depende de jQuery y Popper.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estructura mínima que recomienda la documentación. Lo amarillo es la etiqueta viewport: si la olvidas, el sitio no se adapta al celular aunque uses Bootstrap.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marcados como JS no funcionan solo con el CSS: necesitan jQuery, Popper y bootstrap.js. Si un carrusel no se mueve, casi siempre es porque faltan los scripts o están en mal orden.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Navbar-expand-lg significa que el menú se ve completo en pantallas grandes y se convierte en botón de hamburguesa en el celular. El botón usa data-target="#menu" para abrir el div con id="menu": si cambias el id, tienes que cambiar los dos. Bg-primary es el color; puedes probar bg-dark o bg-light.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simplificada del ejemplo de la documentación; dentro de las flechas van unos span con el ícono, que se copian tal cual. Lo importante: el id del carrusel tiene que coincidir con el href de las flechas, y exactamente un carousel-item debe tener la clase active, o no se ve nada.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web de íconos buscas, por ejemplo, "house", entras al ícono y copias su código. La clase siempre es bi más bi-nombre. También se pueden descargar como SVG o instalar con npm i bootstrap-icons. Ojo: los íconos dibujados aquí son ilustrativos; en tu página se verán con el diseño de Bootstrap Icons.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truco de Bootstrap: no hay que memorizar las clases, se copian de la documentación. Lo único que hay que entender es qué partes cambiar: el contenido, los colores y los ids.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practicar: armen una página con la plantilla, un navbar, un carrusel con tres imágenes y algunos íconos. Todo sale de la documentación.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E1433"/>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1E1433"/>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E1433"/>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1E1433"/>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433"/>
        </a:solidFill>
        <a:effectLst/>
      </p:bgPr>
    </p:bg>
    <p:spTree>
      <p:nvGrpSpPr>
        <p:cNvPr id="1" name=""/>
        <p:cNvGrpSpPr/>
        <p:nvPr/>
      </p:nvGrpSpPr>
      <p:grpSpPr>
        <a:xfrm>
          <a:off x="0" y="0"/>
          <a:ext cx="0" cy="0"/>
          <a:chOff x="0" y="0"/>
          <a:chExt cx="0" cy="0"/>
        </a:xfrm>
      </p:grpSpPr>
      <p:sp>
        <p:nvSpPr>
          <p:cNvPr id="2" name="Shape 0"/>
          <p:cNvSpPr/>
          <p:nvPr/>
        </p:nvSpPr>
        <p:spPr>
          <a:xfrm rot="480000">
            <a:off x="7493000" y="1587500"/>
            <a:ext cx="3556000" cy="3556000"/>
          </a:xfrm>
          <a:prstGeom prst="roundRect">
            <a:avLst>
              <a:gd name="adj" fmla="val 21429"/>
            </a:avLst>
          </a:prstGeom>
          <a:solidFill>
            <a:srgbClr val="7952B3"/>
          </a:solidFill>
          <a:ln/>
        </p:spPr>
        <p:txBody>
          <a:bodyPr/>
          <a:lstStyle/>
          <a:p>
            <a:endParaRPr lang="en-US"/>
          </a:p>
        </p:txBody>
      </p:sp>
      <p:sp>
        <p:nvSpPr>
          <p:cNvPr id="3" name="Text 1"/>
          <p:cNvSpPr/>
          <p:nvPr/>
        </p:nvSpPr>
        <p:spPr>
          <a:xfrm rot="480000">
            <a:off x="7437893" y="1587376"/>
            <a:ext cx="3662680" cy="3581400"/>
          </a:xfrm>
          <a:prstGeom prst="rect">
            <a:avLst/>
          </a:prstGeom>
          <a:noFill/>
          <a:ln/>
        </p:spPr>
        <p:txBody>
          <a:bodyPr wrap="square" lIns="0" tIns="0" rIns="0" bIns="0" rtlCol="0" anchor="t">
            <a:normAutofit/>
          </a:bodyPr>
          <a:lstStyle/>
          <a:p>
            <a:pPr marL="0" indent="0" algn="ctr">
              <a:lnSpc>
                <a:spcPts val="28000"/>
              </a:lnSpc>
              <a:buNone/>
            </a:pPr>
            <a:r>
              <a:rPr lang="en-US" sz="20000" b="1" dirty="0">
                <a:solidFill>
                  <a:srgbClr val="F7F4FB"/>
                </a:solidFill>
                <a:latin typeface="Space Grotesk" pitchFamily="34" charset="0"/>
                <a:ea typeface="Space Grotesk" pitchFamily="34" charset="-122"/>
                <a:cs typeface="Space Grotesk" pitchFamily="34" charset="-120"/>
              </a:rPr>
              <a:t>B</a:t>
            </a:r>
            <a:endParaRPr lang="en-US" sz="20000" dirty="0"/>
          </a:p>
        </p:txBody>
      </p:sp>
      <p:sp>
        <p:nvSpPr>
          <p:cNvPr id="4" name="Text 2"/>
          <p:cNvSpPr/>
          <p:nvPr/>
        </p:nvSpPr>
        <p:spPr>
          <a:xfrm>
            <a:off x="812800" y="1955800"/>
            <a:ext cx="627888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FE484"/>
                </a:solidFill>
                <a:latin typeface="Space Grotesk" pitchFamily="34" charset="0"/>
                <a:ea typeface="Space Grotesk" pitchFamily="34" charset="-122"/>
                <a:cs typeface="Space Grotesk" pitchFamily="34" charset="-120"/>
              </a:rPr>
              <a:t>DESARROLLO WEB · FRAMEWORK FRONT-END</a:t>
            </a:r>
            <a:endParaRPr lang="en-US" sz="1400" dirty="0"/>
          </a:p>
        </p:txBody>
      </p:sp>
      <p:sp>
        <p:nvSpPr>
          <p:cNvPr id="5" name="Text 3"/>
          <p:cNvSpPr>
            <a:spLocks noGrp="1"/>
          </p:cNvSpPr>
          <p:nvPr>
            <p:ph type="title"/>
          </p:nvPr>
        </p:nvSpPr>
        <p:spPr>
          <a:xfrm>
            <a:off x="812800" y="2433241"/>
            <a:ext cx="627888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4FB"/>
                </a:solidFill>
                <a:latin typeface="Space Grotesk" pitchFamily="34" charset="0"/>
                <a:ea typeface="Space Grotesk" pitchFamily="34" charset="-122"/>
                <a:cs typeface="Space Grotesk" pitchFamily="34" charset="-120"/>
              </a:rPr>
              <a:t>¿Qué es Bootstrap?</a:t>
            </a:r>
            <a:endParaRPr lang="en-US" sz="6000" dirty="0"/>
          </a:p>
        </p:txBody>
      </p:sp>
      <p:sp>
        <p:nvSpPr>
          <p:cNvPr id="6" name="Text 4"/>
          <p:cNvSpPr/>
          <p:nvPr/>
        </p:nvSpPr>
        <p:spPr>
          <a:xfrm>
            <a:off x="812800" y="4262041"/>
            <a:ext cx="627888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9CFEA"/>
                </a:solidFill>
                <a:latin typeface="Space Grotesk" pitchFamily="34" charset="0"/>
                <a:ea typeface="Space Grotesk" pitchFamily="34" charset="-122"/>
                <a:cs typeface="Space Grotesk" pitchFamily="34" charset="-120"/>
              </a:rPr>
              <a:t>Piezas de interfaz listas para copiar, pegar y personalizar: navbars, carruseles, íconos y mucho más.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Un kit de piezas para construir webs</a:t>
            </a:r>
            <a:endParaRPr lang="en-US" sz="3200" dirty="0"/>
          </a:p>
        </p:txBody>
      </p:sp>
      <p:sp>
        <p:nvSpPr>
          <p:cNvPr id="3" name="Text 1"/>
          <p:cNvSpPr/>
          <p:nvPr/>
        </p:nvSpPr>
        <p:spPr>
          <a:xfrm>
            <a:off x="812800" y="1615380"/>
            <a:ext cx="6514338" cy="1203722"/>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4458"/>
                </a:solidFill>
                <a:latin typeface="Space Grotesk" pitchFamily="34" charset="0"/>
                <a:ea typeface="Space Grotesk" pitchFamily="34" charset="-122"/>
                <a:cs typeface="Space Grotesk" pitchFamily="34" charset="-120"/>
              </a:rPr>
              <a:t>Bootstrap es un </a:t>
            </a:r>
            <a:r>
              <a:rPr lang="en-US" sz="1600" b="1" dirty="0">
                <a:solidFill>
                  <a:srgbClr val="4A4458"/>
                </a:solidFill>
                <a:latin typeface="Space Grotesk" pitchFamily="34" charset="0"/>
                <a:ea typeface="Space Grotesk" pitchFamily="34" charset="-122"/>
                <a:cs typeface="Space Grotesk" pitchFamily="34" charset="-120"/>
              </a:rPr>
              <a:t>framework de CSS y JavaScript</a:t>
            </a:r>
            <a:r>
              <a:rPr lang="en-US" sz="1600" dirty="0">
                <a:solidFill>
                  <a:srgbClr val="4A4458"/>
                </a:solidFill>
                <a:latin typeface="Space Grotesk" pitchFamily="34" charset="0"/>
                <a:ea typeface="Space Grotesk" pitchFamily="34" charset="-122"/>
                <a:cs typeface="Space Grotesk" pitchFamily="34" charset="-120"/>
              </a:rPr>
              <a:t> gratuito y open source. Trae estilos y componentes ya diseñados para hacer sitios </a:t>
            </a:r>
            <a:r>
              <a:rPr lang="en-US" sz="1600" b="1" dirty="0">
                <a:solidFill>
                  <a:srgbClr val="4A4458"/>
                </a:solidFill>
                <a:latin typeface="Space Grotesk" pitchFamily="34" charset="0"/>
                <a:ea typeface="Space Grotesk" pitchFamily="34" charset="-122"/>
                <a:cs typeface="Space Grotesk" pitchFamily="34" charset="-120"/>
              </a:rPr>
              <a:t>responsive</a:t>
            </a:r>
            <a:r>
              <a:rPr lang="en-US" sz="1600" dirty="0">
                <a:solidFill>
                  <a:srgbClr val="4A4458"/>
                </a:solidFill>
                <a:latin typeface="Space Grotesk" pitchFamily="34" charset="0"/>
                <a:ea typeface="Space Grotesk" pitchFamily="34" charset="-122"/>
                <a:cs typeface="Space Grotesk" pitchFamily="34" charset="-120"/>
              </a:rPr>
              <a:t> y </a:t>
            </a:r>
            <a:r>
              <a:rPr lang="en-US" sz="1600" b="1" dirty="0">
                <a:solidFill>
                  <a:srgbClr val="4A4458"/>
                </a:solidFill>
                <a:latin typeface="Space Grotesk" pitchFamily="34" charset="0"/>
                <a:ea typeface="Space Grotesk" pitchFamily="34" charset="-122"/>
                <a:cs typeface="Space Grotesk" pitchFamily="34" charset="-120"/>
              </a:rPr>
              <a:t>mobile-first</a:t>
            </a:r>
            <a:r>
              <a:rPr lang="en-US" sz="1600" dirty="0">
                <a:solidFill>
                  <a:srgbClr val="4A4458"/>
                </a:solidFill>
                <a:latin typeface="Space Grotesk" pitchFamily="34" charset="0"/>
                <a:ea typeface="Space Grotesk" pitchFamily="34" charset="-122"/>
                <a:cs typeface="Space Grotesk" pitchFamily="34" charset="-120"/>
              </a:rPr>
              <a:t>: se ven bien en celular y en computadora.</a:t>
            </a:r>
            <a:endParaRPr lang="en-US" sz="1600" dirty="0"/>
          </a:p>
        </p:txBody>
      </p:sp>
      <p:sp>
        <p:nvSpPr>
          <p:cNvPr id="4" name="Text 2"/>
          <p:cNvSpPr/>
          <p:nvPr/>
        </p:nvSpPr>
        <p:spPr>
          <a:xfrm>
            <a:off x="812800" y="2996902"/>
            <a:ext cx="6514338"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4458"/>
                </a:solidFill>
                <a:latin typeface="Space Grotesk" pitchFamily="34" charset="0"/>
                <a:ea typeface="Space Grotesk" pitchFamily="34" charset="-122"/>
                <a:cs typeface="Space Grotesk" pitchFamily="34" charset="-120"/>
              </a:rPr>
              <a:t>Tú no escribes el CSS de cada botón: le pones </a:t>
            </a:r>
            <a:r>
              <a:rPr lang="en-US" sz="1600" b="1" dirty="0">
                <a:solidFill>
                  <a:srgbClr val="4A4458"/>
                </a:solidFill>
                <a:latin typeface="Space Grotesk" pitchFamily="34" charset="0"/>
                <a:ea typeface="Space Grotesk" pitchFamily="34" charset="-122"/>
                <a:cs typeface="Space Grotesk" pitchFamily="34" charset="-120"/>
              </a:rPr>
              <a:t>clases</a:t>
            </a:r>
            <a:r>
              <a:rPr lang="en-US" sz="1600" dirty="0">
                <a:solidFill>
                  <a:srgbClr val="4A4458"/>
                </a:solidFill>
                <a:latin typeface="Space Grotesk" pitchFamily="34" charset="0"/>
                <a:ea typeface="Space Grotesk" pitchFamily="34" charset="-122"/>
                <a:cs typeface="Space Grotesk" pitchFamily="34" charset="-120"/>
              </a:rPr>
              <a:t> a tu HTML y Bootstrap hace el resto.</a:t>
            </a:r>
            <a:endParaRPr lang="en-US" sz="1600" dirty="0"/>
          </a:p>
        </p:txBody>
      </p:sp>
      <p:sp>
        <p:nvSpPr>
          <p:cNvPr id="5" name="Text 3"/>
          <p:cNvSpPr/>
          <p:nvPr/>
        </p:nvSpPr>
        <p:spPr>
          <a:xfrm>
            <a:off x="812800" y="3789263"/>
            <a:ext cx="998736" cy="383480"/>
          </a:xfrm>
          <a:prstGeom prst="roundRect">
            <a:avLst>
              <a:gd name="adj" fmla="val 50000"/>
            </a:avLst>
          </a:prstGeom>
          <a:solidFill>
            <a:srgbClr val="EDE5F7"/>
          </a:solidFill>
          <a:ln/>
        </p:spPr>
        <p:txBody>
          <a:bodyPr wrap="none" lIns="0" tIns="0" rIns="0" bIns="0" rtlCol="0" anchor="ctr">
            <a:normAutofit/>
          </a:bodyPr>
          <a:lstStyle/>
          <a:p>
            <a:pPr marL="0" indent="0" algn="ctr">
              <a:lnSpc>
                <a:spcPts val="1820"/>
              </a:lnSpc>
              <a:buNone/>
            </a:pPr>
            <a:r>
              <a:rPr lang="en-US" sz="1300" b="1" dirty="0">
                <a:solidFill>
                  <a:srgbClr val="563D7C"/>
                </a:solidFill>
                <a:latin typeface="Space Grotesk" pitchFamily="34" charset="0"/>
                <a:ea typeface="Space Grotesk" pitchFamily="34" charset="-122"/>
                <a:cs typeface="Space Grotesk" pitchFamily="34" charset="-120"/>
              </a:rPr>
              <a:t>CSS + JS</a:t>
            </a:r>
            <a:endParaRPr lang="en-US" sz="1300" dirty="0"/>
          </a:p>
        </p:txBody>
      </p:sp>
      <p:sp>
        <p:nvSpPr>
          <p:cNvPr id="6" name="Text 4"/>
          <p:cNvSpPr/>
          <p:nvPr/>
        </p:nvSpPr>
        <p:spPr>
          <a:xfrm>
            <a:off x="1913136" y="3789263"/>
            <a:ext cx="1240929" cy="383480"/>
          </a:xfrm>
          <a:prstGeom prst="roundRect">
            <a:avLst>
              <a:gd name="adj" fmla="val 50000"/>
            </a:avLst>
          </a:prstGeom>
          <a:solidFill>
            <a:srgbClr val="EDE5F7"/>
          </a:solidFill>
          <a:ln/>
        </p:spPr>
        <p:txBody>
          <a:bodyPr wrap="none" lIns="0" tIns="0" rIns="0" bIns="0" rtlCol="0" anchor="ctr">
            <a:normAutofit/>
          </a:bodyPr>
          <a:lstStyle/>
          <a:p>
            <a:pPr marL="0" indent="0" algn="ctr">
              <a:lnSpc>
                <a:spcPts val="1820"/>
              </a:lnSpc>
              <a:buNone/>
            </a:pPr>
            <a:r>
              <a:rPr lang="en-US" sz="1300" b="1" dirty="0">
                <a:solidFill>
                  <a:srgbClr val="563D7C"/>
                </a:solidFill>
                <a:latin typeface="Space Grotesk" pitchFamily="34" charset="0"/>
                <a:ea typeface="Space Grotesk" pitchFamily="34" charset="-122"/>
                <a:cs typeface="Space Grotesk" pitchFamily="34" charset="-120"/>
              </a:rPr>
              <a:t>Mobile-first</a:t>
            </a:r>
            <a:endParaRPr lang="en-US" sz="1300" dirty="0"/>
          </a:p>
        </p:txBody>
      </p:sp>
      <p:sp>
        <p:nvSpPr>
          <p:cNvPr id="7" name="Text 5"/>
          <p:cNvSpPr/>
          <p:nvPr/>
        </p:nvSpPr>
        <p:spPr>
          <a:xfrm>
            <a:off x="3255665" y="3789263"/>
            <a:ext cx="771029" cy="383480"/>
          </a:xfrm>
          <a:prstGeom prst="roundRect">
            <a:avLst>
              <a:gd name="adj" fmla="val 50000"/>
            </a:avLst>
          </a:prstGeom>
          <a:solidFill>
            <a:srgbClr val="EDE5F7"/>
          </a:solidFill>
          <a:ln/>
        </p:spPr>
        <p:txBody>
          <a:bodyPr wrap="none" lIns="0" tIns="0" rIns="0" bIns="0" rtlCol="0" anchor="ctr">
            <a:normAutofit/>
          </a:bodyPr>
          <a:lstStyle/>
          <a:p>
            <a:pPr marL="0" indent="0" algn="ctr">
              <a:lnSpc>
                <a:spcPts val="1820"/>
              </a:lnSpc>
              <a:buNone/>
            </a:pPr>
            <a:r>
              <a:rPr lang="en-US" sz="1300" b="1" dirty="0">
                <a:solidFill>
                  <a:srgbClr val="563D7C"/>
                </a:solidFill>
                <a:latin typeface="Space Grotesk" pitchFamily="34" charset="0"/>
                <a:ea typeface="Space Grotesk" pitchFamily="34" charset="-122"/>
                <a:cs typeface="Space Grotesk" pitchFamily="34" charset="-120"/>
              </a:rPr>
              <a:t>Gratis</a:t>
            </a:r>
            <a:endParaRPr lang="en-US" sz="1300" dirty="0"/>
          </a:p>
        </p:txBody>
      </p:sp>
      <p:sp>
        <p:nvSpPr>
          <p:cNvPr id="8" name="Text 6"/>
          <p:cNvSpPr/>
          <p:nvPr/>
        </p:nvSpPr>
        <p:spPr>
          <a:xfrm>
            <a:off x="4128294" y="3789263"/>
            <a:ext cx="1473101" cy="383480"/>
          </a:xfrm>
          <a:prstGeom prst="roundRect">
            <a:avLst>
              <a:gd name="adj" fmla="val 50000"/>
            </a:avLst>
          </a:prstGeom>
          <a:solidFill>
            <a:srgbClr val="EDE5F7"/>
          </a:solidFill>
          <a:ln/>
        </p:spPr>
        <p:txBody>
          <a:bodyPr wrap="none" lIns="0" tIns="0" rIns="0" bIns="0" rtlCol="0" anchor="ctr">
            <a:normAutofit/>
          </a:bodyPr>
          <a:lstStyle/>
          <a:p>
            <a:pPr marL="0" indent="0" algn="ctr">
              <a:lnSpc>
                <a:spcPts val="1820"/>
              </a:lnSpc>
              <a:buNone/>
            </a:pPr>
            <a:r>
              <a:rPr lang="en-US" sz="1300" b="1" dirty="0">
                <a:solidFill>
                  <a:srgbClr val="563D7C"/>
                </a:solidFill>
                <a:latin typeface="Space Grotesk" pitchFamily="34" charset="0"/>
                <a:ea typeface="Space Grotesk" pitchFamily="34" charset="-122"/>
                <a:cs typeface="Space Grotesk" pitchFamily="34" charset="-120"/>
              </a:rPr>
              <a:t>Copiar y pegar</a:t>
            </a:r>
            <a:endParaRPr lang="en-US" sz="1300" dirty="0"/>
          </a:p>
        </p:txBody>
      </p:sp>
      <p:sp>
        <p:nvSpPr>
          <p:cNvPr id="9" name="Shape 7"/>
          <p:cNvSpPr/>
          <p:nvPr/>
        </p:nvSpPr>
        <p:spPr>
          <a:xfrm>
            <a:off x="7442200" y="1615380"/>
            <a:ext cx="3937000" cy="3083322"/>
          </a:xfrm>
          <a:prstGeom prst="roundRect">
            <a:avLst>
              <a:gd name="adj" fmla="val 6590"/>
            </a:avLst>
          </a:prstGeom>
          <a:solidFill>
            <a:srgbClr val="1E1433"/>
          </a:solidFill>
          <a:ln/>
        </p:spPr>
        <p:txBody>
          <a:bodyPr/>
          <a:lstStyle/>
          <a:p>
            <a:endParaRPr lang="en-US"/>
          </a:p>
        </p:txBody>
      </p:sp>
      <p:sp>
        <p:nvSpPr>
          <p:cNvPr id="10" name="Text 8"/>
          <p:cNvSpPr/>
          <p:nvPr/>
        </p:nvSpPr>
        <p:spPr>
          <a:xfrm>
            <a:off x="7797800" y="1970980"/>
            <a:ext cx="3322574"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E484"/>
                </a:solidFill>
                <a:latin typeface="Space Grotesk" pitchFamily="34" charset="0"/>
                <a:ea typeface="Space Grotesk" pitchFamily="34" charset="-122"/>
                <a:cs typeface="Space Grotesk" pitchFamily="34" charset="-120"/>
              </a:rPr>
              <a:t>ANALOGÍA</a:t>
            </a:r>
            <a:endParaRPr lang="en-US" sz="1400" dirty="0"/>
          </a:p>
        </p:txBody>
      </p:sp>
      <p:sp>
        <p:nvSpPr>
          <p:cNvPr id="11" name="Text 9"/>
          <p:cNvSpPr/>
          <p:nvPr/>
        </p:nvSpPr>
        <p:spPr>
          <a:xfrm>
            <a:off x="7797800" y="2372221"/>
            <a:ext cx="3322574" cy="13462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F7F4FB"/>
                </a:solidFill>
                <a:latin typeface="Space Grotesk" pitchFamily="34" charset="0"/>
                <a:ea typeface="Space Grotesk" pitchFamily="34" charset="-122"/>
                <a:cs typeface="Space Grotesk" pitchFamily="34" charset="-120"/>
              </a:rPr>
              <a:t>Es como LEGO: no fabricas cada ladrillo, eliges piezas que ya encajan.</a:t>
            </a:r>
            <a:endParaRPr lang="en-US" sz="2000" dirty="0"/>
          </a:p>
        </p:txBody>
      </p:sp>
      <p:sp>
        <p:nvSpPr>
          <p:cNvPr id="12" name="Text 10"/>
          <p:cNvSpPr/>
          <p:nvPr/>
        </p:nvSpPr>
        <p:spPr>
          <a:xfrm>
            <a:off x="7797800" y="3845421"/>
            <a:ext cx="332257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9CFEA"/>
                </a:solidFill>
                <a:latin typeface="Space Grotesk" pitchFamily="34" charset="0"/>
                <a:ea typeface="Space Grotesk" pitchFamily="34" charset="-122"/>
                <a:cs typeface="Space Grotesk" pitchFamily="34" charset="-120"/>
              </a:rPr>
              <a:t>La clase </a:t>
            </a:r>
            <a:r>
              <a:rPr lang="en-US" sz="1400" dirty="0">
                <a:solidFill>
                  <a:srgbClr val="FFE484"/>
                </a:solidFill>
                <a:latin typeface="Space Grotesk" pitchFamily="34" charset="0"/>
                <a:ea typeface="Space Grotesk" pitchFamily="34" charset="-122"/>
                <a:cs typeface="Space Grotesk" pitchFamily="34" charset="-120"/>
              </a:rPr>
              <a:t>btn btn-primary</a:t>
            </a:r>
            <a:r>
              <a:rPr lang="en-US" sz="1400" dirty="0">
                <a:solidFill>
                  <a:srgbClr val="D9CFEA"/>
                </a:solidFill>
                <a:latin typeface="Space Grotesk" pitchFamily="34" charset="0"/>
                <a:ea typeface="Space Grotesk" pitchFamily="34" charset="-122"/>
                <a:cs typeface="Space Grotesk" pitchFamily="34" charset="-120"/>
              </a:rPr>
              <a:t> es la pieza “botón morado” lista para usar.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Cómo agregarlo: dos pasos por CDN</a:t>
            </a:r>
            <a:endParaRPr lang="en-US" sz="3200" dirty="0"/>
          </a:p>
        </p:txBody>
      </p:sp>
      <p:sp>
        <p:nvSpPr>
          <p:cNvPr id="3" name="Text 1"/>
          <p:cNvSpPr/>
          <p:nvPr/>
        </p:nvSpPr>
        <p:spPr>
          <a:xfrm>
            <a:off x="812800" y="151378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952B3"/>
                </a:solidFill>
                <a:latin typeface="Space Grotesk" pitchFamily="34" charset="0"/>
                <a:ea typeface="Space Grotesk" pitchFamily="34" charset="-122"/>
                <a:cs typeface="Space Grotesk" pitchFamily="34" charset="-120"/>
              </a:rPr>
              <a:t>1 · El CSS, dentro del &lt;head&gt; y antes de tus otros estilos</a:t>
            </a:r>
            <a:endParaRPr lang="en-US" sz="1400" dirty="0"/>
          </a:p>
        </p:txBody>
      </p:sp>
      <p:sp>
        <p:nvSpPr>
          <p:cNvPr id="4" name="Text 2"/>
          <p:cNvSpPr/>
          <p:nvPr/>
        </p:nvSpPr>
        <p:spPr>
          <a:xfrm>
            <a:off x="812800" y="1838821"/>
            <a:ext cx="10566400" cy="584200"/>
          </a:xfrm>
          <a:prstGeom prst="roundRect">
            <a:avLst>
              <a:gd name="adj" fmla="val 17391"/>
            </a:avLst>
          </a:prstGeom>
          <a:solidFill>
            <a:srgbClr val="1E1433"/>
          </a:solidFill>
          <a:ln/>
        </p:spPr>
        <p:txBody>
          <a:bodyPr wrap="none" lIns="173442" tIns="148042" rIns="0" bIns="122642" rtlCol="0" anchor="t">
            <a:normAutofit/>
          </a:bodyPr>
          <a:lstStyle/>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&lt;link rel="stylesheet" href="https://cdn.jsdelivr.net/npm/</a:t>
            </a:r>
            <a:r>
              <a:rPr lang="en-US" sz="1200" dirty="0">
                <a:solidFill>
                  <a:srgbClr val="FFE484"/>
                </a:solidFill>
                <a:latin typeface="JetBrains Mono" pitchFamily="49" charset="0"/>
                <a:ea typeface="JetBrains Mono" pitchFamily="49" charset="-122"/>
                <a:cs typeface="JetBrains Mono" pitchFamily="49" charset="-120"/>
              </a:rPr>
              <a:t>bootstrap@4.0.0</a:t>
            </a:r>
            <a:r>
              <a:rPr lang="en-US" sz="1200" dirty="0">
                <a:solidFill>
                  <a:srgbClr val="F7F4FB"/>
                </a:solidFill>
                <a:latin typeface="JetBrains Mono" pitchFamily="49" charset="0"/>
                <a:ea typeface="JetBrains Mono" pitchFamily="49" charset="-122"/>
                <a:cs typeface="JetBrains Mono" pitchFamily="49" charset="-120"/>
              </a:rPr>
              <a:t>/dist/css/bootstrap.min.css"&gt;</a:t>
            </a:r>
            <a:endParaRPr lang="en-US" sz="1200" dirty="0"/>
          </a:p>
        </p:txBody>
      </p:sp>
      <p:sp>
        <p:nvSpPr>
          <p:cNvPr id="5" name="Text 3"/>
          <p:cNvSpPr/>
          <p:nvPr/>
        </p:nvSpPr>
        <p:spPr>
          <a:xfrm>
            <a:off x="812800" y="267702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952B3"/>
                </a:solidFill>
                <a:latin typeface="Space Grotesk" pitchFamily="34" charset="0"/>
                <a:ea typeface="Space Grotesk" pitchFamily="34" charset="-122"/>
                <a:cs typeface="Space Grotesk" pitchFamily="34" charset="-120"/>
              </a:rPr>
              <a:t>2 · Los scripts, justo antes de &lt;/body&gt;</a:t>
            </a:r>
            <a:endParaRPr lang="en-US" sz="1400" dirty="0"/>
          </a:p>
        </p:txBody>
      </p:sp>
      <p:sp>
        <p:nvSpPr>
          <p:cNvPr id="6" name="Text 4"/>
          <p:cNvSpPr/>
          <p:nvPr/>
        </p:nvSpPr>
        <p:spPr>
          <a:xfrm>
            <a:off x="812800" y="3002062"/>
            <a:ext cx="10566400" cy="1041400"/>
          </a:xfrm>
          <a:prstGeom prst="roundRect">
            <a:avLst>
              <a:gd name="adj" fmla="val 9756"/>
            </a:avLst>
          </a:prstGeom>
          <a:solidFill>
            <a:srgbClr val="1E1433"/>
          </a:solidFill>
          <a:ln/>
        </p:spPr>
        <p:txBody>
          <a:bodyPr wrap="none" lIns="173442" tIns="148042" rIns="0" bIns="122642" rtlCol="0" anchor="t">
            <a:normAutofit/>
          </a:bodyPr>
          <a:lstStyle/>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&lt;script src="…/</a:t>
            </a:r>
            <a:r>
              <a:rPr lang="en-US" sz="1200" dirty="0">
                <a:solidFill>
                  <a:srgbClr val="FFE484"/>
                </a:solidFill>
                <a:latin typeface="JetBrains Mono" pitchFamily="49" charset="0"/>
                <a:ea typeface="JetBrains Mono" pitchFamily="49" charset="-122"/>
                <a:cs typeface="JetBrains Mono" pitchFamily="49" charset="-120"/>
              </a:rPr>
              <a:t>jquery-3.2.1.slim.min.js</a:t>
            </a:r>
            <a:r>
              <a:rPr lang="en-US" sz="1200" dirty="0">
                <a:solidFill>
                  <a:srgbClr val="F7F4FB"/>
                </a:solidFill>
                <a:latin typeface="JetBrains Mono" pitchFamily="49" charset="0"/>
                <a:ea typeface="JetBrains Mono" pitchFamily="49" charset="-122"/>
                <a:cs typeface="JetBrains Mono" pitchFamily="49" charset="-120"/>
              </a:rPr>
              <a:t>"&gt;&lt;/script&gt;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&lt;script src="…/</a:t>
            </a:r>
            <a:r>
              <a:rPr lang="en-US" sz="1200" dirty="0">
                <a:solidFill>
                  <a:srgbClr val="FFE484"/>
                </a:solidFill>
                <a:latin typeface="JetBrains Mono" pitchFamily="49" charset="0"/>
                <a:ea typeface="JetBrains Mono" pitchFamily="49" charset="-122"/>
                <a:cs typeface="JetBrains Mono" pitchFamily="49" charset="-120"/>
              </a:rPr>
              <a:t>popper.min.js</a:t>
            </a:r>
            <a:r>
              <a:rPr lang="en-US" sz="1200" dirty="0">
                <a:solidFill>
                  <a:srgbClr val="F7F4FB"/>
                </a:solidFill>
                <a:latin typeface="JetBrains Mono" pitchFamily="49" charset="0"/>
                <a:ea typeface="JetBrains Mono" pitchFamily="49" charset="-122"/>
                <a:cs typeface="JetBrains Mono" pitchFamily="49" charset="-120"/>
              </a:rPr>
              <a:t>"&gt;&lt;/script&gt;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&lt;script src="…/</a:t>
            </a:r>
            <a:r>
              <a:rPr lang="en-US" sz="1200" dirty="0">
                <a:solidFill>
                  <a:srgbClr val="FFE484"/>
                </a:solidFill>
                <a:latin typeface="JetBrains Mono" pitchFamily="49" charset="0"/>
                <a:ea typeface="JetBrains Mono" pitchFamily="49" charset="-122"/>
                <a:cs typeface="JetBrains Mono" pitchFamily="49" charset="-120"/>
              </a:rPr>
              <a:t>bootstrap.min.js</a:t>
            </a:r>
            <a:r>
              <a:rPr lang="en-US" sz="1200" dirty="0">
                <a:solidFill>
                  <a:srgbClr val="F7F4FB"/>
                </a:solidFill>
                <a:latin typeface="JetBrains Mono" pitchFamily="49" charset="0"/>
                <a:ea typeface="JetBrains Mono" pitchFamily="49" charset="-122"/>
                <a:cs typeface="JetBrains Mono" pitchFamily="49" charset="-120"/>
              </a:rPr>
              <a:t>"&gt;&lt;/script&gt;</a:t>
            </a:r>
            <a:endParaRPr lang="en-US" sz="1200" dirty="0"/>
          </a:p>
        </p:txBody>
      </p:sp>
      <p:sp>
        <p:nvSpPr>
          <p:cNvPr id="7" name="Shape 5"/>
          <p:cNvSpPr/>
          <p:nvPr/>
        </p:nvSpPr>
        <p:spPr>
          <a:xfrm>
            <a:off x="812800" y="4297462"/>
            <a:ext cx="10566400" cy="802481"/>
          </a:xfrm>
          <a:prstGeom prst="roundRect">
            <a:avLst>
              <a:gd name="adj" fmla="val 9496"/>
            </a:avLst>
          </a:prstGeom>
          <a:solidFill>
            <a:srgbClr val="FFF4C2"/>
          </a:solidFill>
          <a:ln/>
        </p:spPr>
        <p:txBody>
          <a:bodyPr/>
          <a:lstStyle/>
          <a:p>
            <a:endParaRPr lang="en-US"/>
          </a:p>
        </p:txBody>
      </p:sp>
      <p:sp>
        <p:nvSpPr>
          <p:cNvPr id="8" name="Shape 6"/>
          <p:cNvSpPr/>
          <p:nvPr/>
        </p:nvSpPr>
        <p:spPr>
          <a:xfrm>
            <a:off x="812800" y="4297462"/>
            <a:ext cx="10566400" cy="802481"/>
          </a:xfrm>
          <a:custGeom>
            <a:avLst/>
            <a:gdLst/>
            <a:ahLst/>
            <a:cxnLst/>
            <a:rect l="l" t="t" r="r" b="b"/>
            <a:pathLst>
              <a:path w="10566400" h="802481">
                <a:moveTo>
                  <a:pt x="76200" y="802481"/>
                </a:moveTo>
                <a:lnTo>
                  <a:pt x="76200" y="802481"/>
                </a:lnTo>
                <a:arcTo wR="76200" hR="76200" stAng="5400000" swAng="5400000"/>
                <a:lnTo>
                  <a:pt x="0" y="76200"/>
                </a:lnTo>
                <a:arcTo wR="76200" hR="76200" stAng="10800000" swAng="5400000"/>
                <a:lnTo>
                  <a:pt x="76200" y="0"/>
                </a:lnTo>
                <a:arcTo wR="25400" hR="76200" stAng="16200000" swAng="-5400000"/>
                <a:lnTo>
                  <a:pt x="50800" y="726281"/>
                </a:lnTo>
                <a:arcTo wR="25400" hR="76200" stAng="10800000" swAng="-5400000"/>
                <a:close/>
              </a:path>
            </a:pathLst>
          </a:custGeom>
          <a:solidFill>
            <a:srgbClr val="E0B400"/>
          </a:solidFill>
          <a:ln/>
        </p:spPr>
        <p:txBody>
          <a:bodyPr/>
          <a:lstStyle/>
          <a:p>
            <a:endParaRPr lang="en-US"/>
          </a:p>
        </p:txBody>
      </p:sp>
      <p:pic>
        <p:nvPicPr>
          <p:cNvPr id="9" name="Image 0" descr="Warning"/>
          <p:cNvPicPr>
            <a:picLocks noChangeAspect="1"/>
          </p:cNvPicPr>
          <p:nvPr/>
        </p:nvPicPr>
        <p:blipFill>
          <a:blip r:embed="rId3"/>
          <a:srcRect t="-512" b="-512"/>
          <a:stretch/>
        </p:blipFill>
        <p:spPr>
          <a:xfrm>
            <a:off x="1066800" y="4571702"/>
            <a:ext cx="232569" cy="254000"/>
          </a:xfrm>
          <a:prstGeom prst="rect">
            <a:avLst/>
          </a:prstGeom>
        </p:spPr>
      </p:pic>
      <p:sp>
        <p:nvSpPr>
          <p:cNvPr id="10" name="Text 7"/>
          <p:cNvSpPr/>
          <p:nvPr/>
        </p:nvSpPr>
        <p:spPr>
          <a:xfrm>
            <a:off x="1426369" y="4449862"/>
            <a:ext cx="1004212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3B00"/>
                </a:solidFill>
                <a:latin typeface="Space Grotesk" pitchFamily="34" charset="0"/>
                <a:ea typeface="Space Grotesk" pitchFamily="34" charset="-122"/>
                <a:cs typeface="Space Grotesk" pitchFamily="34" charset="-120"/>
              </a:rPr>
              <a:t>El orden importa:</a:t>
            </a:r>
            <a:r>
              <a:rPr lang="en-US" sz="1400" dirty="0">
                <a:solidFill>
                  <a:srgbClr val="4A3B00"/>
                </a:solidFill>
                <a:latin typeface="Space Grotesk" pitchFamily="34" charset="0"/>
                <a:ea typeface="Space Grotesk" pitchFamily="34" charset="-122"/>
                <a:cs typeface="Space Grotesk" pitchFamily="34" charset="-120"/>
              </a:rPr>
              <a:t> jQuery → Popper → Bootstrap. Si lo cambias, el carrusel, los dropdowns y el menú del navbar no funcionan.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La plantilla de inicio</a:t>
            </a:r>
            <a:endParaRPr lang="en-US" sz="3200" dirty="0"/>
          </a:p>
        </p:txBody>
      </p:sp>
      <p:sp>
        <p:nvSpPr>
          <p:cNvPr id="3" name="Text 1"/>
          <p:cNvSpPr/>
          <p:nvPr/>
        </p:nvSpPr>
        <p:spPr>
          <a:xfrm>
            <a:off x="812800" y="1513780"/>
            <a:ext cx="6959600" cy="3606800"/>
          </a:xfrm>
          <a:prstGeom prst="roundRect">
            <a:avLst>
              <a:gd name="adj" fmla="val 2817"/>
            </a:avLst>
          </a:prstGeom>
          <a:solidFill>
            <a:srgbClr val="1E1433"/>
          </a:solidFill>
          <a:ln/>
        </p:spPr>
        <p:txBody>
          <a:bodyPr wrap="none" lIns="198842" tIns="173442" rIns="3770" bIns="148042" rtlCol="0" anchor="t">
            <a:normAutofit/>
          </a:bodyPr>
          <a:lstStyle/>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&lt;!doctype html&gt;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&lt;html lang="es"&gt;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&lt;head&gt;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&lt;meta charset="utf-8"&gt;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a:t>
            </a:r>
            <a:r>
              <a:rPr lang="en-US" sz="1200" dirty="0">
                <a:solidFill>
                  <a:srgbClr val="FFE484"/>
                </a:solidFill>
                <a:latin typeface="JetBrains Mono" pitchFamily="49" charset="0"/>
                <a:ea typeface="JetBrains Mono" pitchFamily="49" charset="-122"/>
                <a:cs typeface="JetBrains Mono" pitchFamily="49" charset="-120"/>
              </a:rPr>
              <a:t>&lt;meta name="viewport"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a:t>
            </a:r>
            <a:r>
              <a:rPr lang="en-US" sz="1200" dirty="0">
                <a:solidFill>
                  <a:srgbClr val="FFE484"/>
                </a:solidFill>
                <a:latin typeface="JetBrains Mono" pitchFamily="49" charset="0"/>
                <a:ea typeface="JetBrains Mono" pitchFamily="49" charset="-122"/>
                <a:cs typeface="JetBrains Mono" pitchFamily="49" charset="-120"/>
              </a:rPr>
              <a:t>  content="width=device-width, initial-scale=1"&gt;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&lt;link rel="stylesheet" href="…bootstrap.min.css"&gt;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&lt;title&gt;Hola, mundo&lt;/title&gt;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&lt;/head&gt;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&lt;body&gt;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&lt;h1&gt;Hola, mundo&lt;/h1&gt;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 jQuery, Popper y Bootstrap JS --&gt;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  &lt;/body&gt;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&lt;/html&gt;</a:t>
            </a:r>
            <a:endParaRPr lang="en-US" sz="1200" dirty="0"/>
          </a:p>
        </p:txBody>
      </p:sp>
      <p:sp>
        <p:nvSpPr>
          <p:cNvPr id="4" name="Shape 2"/>
          <p:cNvSpPr/>
          <p:nvPr/>
        </p:nvSpPr>
        <p:spPr>
          <a:xfrm>
            <a:off x="8083550" y="1520130"/>
            <a:ext cx="3289300" cy="1109861"/>
          </a:xfrm>
          <a:prstGeom prst="roundRect">
            <a:avLst>
              <a:gd name="adj" fmla="val 8582"/>
            </a:avLst>
          </a:prstGeom>
          <a:solidFill>
            <a:srgbClr val="FFFFFF"/>
          </a:solidFill>
          <a:ln w="12700">
            <a:solidFill>
              <a:srgbClr val="E3DAF0"/>
            </a:solidFill>
            <a:prstDash val="solid"/>
          </a:ln>
        </p:spPr>
        <p:txBody>
          <a:bodyPr/>
          <a:lstStyle/>
          <a:p>
            <a:endParaRPr lang="en-US"/>
          </a:p>
        </p:txBody>
      </p:sp>
      <p:sp>
        <p:nvSpPr>
          <p:cNvPr id="5" name="Text 3"/>
          <p:cNvSpPr/>
          <p:nvPr/>
        </p:nvSpPr>
        <p:spPr>
          <a:xfrm>
            <a:off x="8267700" y="1704280"/>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952B3"/>
                </a:solidFill>
                <a:latin typeface="Space Grotesk" pitchFamily="34" charset="0"/>
                <a:ea typeface="Space Grotesk" pitchFamily="34" charset="-122"/>
                <a:cs typeface="Space Grotesk" pitchFamily="34" charset="-120"/>
              </a:rPr>
              <a:t>&lt;!doctype html&gt;</a:t>
            </a:r>
            <a:endParaRPr lang="en-US" sz="1500" dirty="0"/>
          </a:p>
        </p:txBody>
      </p:sp>
      <p:sp>
        <p:nvSpPr>
          <p:cNvPr id="6" name="Text 4"/>
          <p:cNvSpPr/>
          <p:nvPr/>
        </p:nvSpPr>
        <p:spPr>
          <a:xfrm>
            <a:off x="8267700" y="1983680"/>
            <a:ext cx="300863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Obligatorio. Sin él, los estilos se ven incompletos.</a:t>
            </a:r>
            <a:endParaRPr lang="en-US" sz="1300" dirty="0"/>
          </a:p>
        </p:txBody>
      </p:sp>
      <p:sp>
        <p:nvSpPr>
          <p:cNvPr id="7" name="Shape 5"/>
          <p:cNvSpPr/>
          <p:nvPr/>
        </p:nvSpPr>
        <p:spPr>
          <a:xfrm>
            <a:off x="8083550" y="2795091"/>
            <a:ext cx="3289300" cy="1109861"/>
          </a:xfrm>
          <a:prstGeom prst="roundRect">
            <a:avLst>
              <a:gd name="adj" fmla="val 8582"/>
            </a:avLst>
          </a:prstGeom>
          <a:solidFill>
            <a:srgbClr val="FFFFFF"/>
          </a:solidFill>
          <a:ln w="12700">
            <a:solidFill>
              <a:srgbClr val="E3DAF0"/>
            </a:solidFill>
            <a:prstDash val="solid"/>
          </a:ln>
        </p:spPr>
        <p:txBody>
          <a:bodyPr/>
          <a:lstStyle/>
          <a:p>
            <a:endParaRPr lang="en-US"/>
          </a:p>
        </p:txBody>
      </p:sp>
      <p:sp>
        <p:nvSpPr>
          <p:cNvPr id="8" name="Text 6"/>
          <p:cNvSpPr/>
          <p:nvPr/>
        </p:nvSpPr>
        <p:spPr>
          <a:xfrm>
            <a:off x="8267700" y="2979241"/>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952B3"/>
                </a:solidFill>
                <a:latin typeface="Space Grotesk" pitchFamily="34" charset="0"/>
                <a:ea typeface="Space Grotesk" pitchFamily="34" charset="-122"/>
                <a:cs typeface="Space Grotesk" pitchFamily="34" charset="-120"/>
              </a:rPr>
              <a:t>meta viewport</a:t>
            </a:r>
            <a:endParaRPr lang="en-US" sz="1500" dirty="0"/>
          </a:p>
        </p:txBody>
      </p:sp>
      <p:sp>
        <p:nvSpPr>
          <p:cNvPr id="9" name="Text 7"/>
          <p:cNvSpPr/>
          <p:nvPr/>
        </p:nvSpPr>
        <p:spPr>
          <a:xfrm>
            <a:off x="8267700" y="3258641"/>
            <a:ext cx="300863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Hace que la página se adapte bien al celular. Es la clave del responsive.</a:t>
            </a:r>
            <a:endParaRPr lang="en-US" sz="1300" dirty="0"/>
          </a:p>
        </p:txBody>
      </p:sp>
      <p:sp>
        <p:nvSpPr>
          <p:cNvPr id="10" name="Shape 8"/>
          <p:cNvSpPr/>
          <p:nvPr/>
        </p:nvSpPr>
        <p:spPr>
          <a:xfrm>
            <a:off x="8083550" y="4070052"/>
            <a:ext cx="3289300" cy="1340941"/>
          </a:xfrm>
          <a:prstGeom prst="roundRect">
            <a:avLst>
              <a:gd name="adj" fmla="val 7103"/>
            </a:avLst>
          </a:prstGeom>
          <a:solidFill>
            <a:srgbClr val="FFFFFF"/>
          </a:solidFill>
          <a:ln w="12700">
            <a:solidFill>
              <a:srgbClr val="E3DAF0"/>
            </a:solidFill>
            <a:prstDash val="solid"/>
          </a:ln>
        </p:spPr>
        <p:txBody>
          <a:bodyPr/>
          <a:lstStyle/>
          <a:p>
            <a:endParaRPr lang="en-US"/>
          </a:p>
        </p:txBody>
      </p:sp>
      <p:sp>
        <p:nvSpPr>
          <p:cNvPr id="11" name="Text 9"/>
          <p:cNvSpPr/>
          <p:nvPr/>
        </p:nvSpPr>
        <p:spPr>
          <a:xfrm>
            <a:off x="8267700" y="4254202"/>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952B3"/>
                </a:solidFill>
                <a:latin typeface="Space Grotesk" pitchFamily="34" charset="0"/>
                <a:ea typeface="Space Grotesk" pitchFamily="34" charset="-122"/>
                <a:cs typeface="Space Grotesk" pitchFamily="34" charset="-120"/>
              </a:rPr>
              <a:t>Reboot</a:t>
            </a:r>
            <a:endParaRPr lang="en-US" sz="1500" dirty="0"/>
          </a:p>
        </p:txBody>
      </p:sp>
      <p:sp>
        <p:nvSpPr>
          <p:cNvPr id="12" name="Text 10"/>
          <p:cNvSpPr/>
          <p:nvPr/>
        </p:nvSpPr>
        <p:spPr>
          <a:xfrm>
            <a:off x="8267700" y="4533602"/>
            <a:ext cx="300863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Bootstrap “resetea” estilos para que todo se vea igual en cada navegador.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E143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4FB"/>
                </a:solidFill>
                <a:latin typeface="Space Grotesk" pitchFamily="34" charset="0"/>
                <a:ea typeface="Space Grotesk" pitchFamily="34" charset="-122"/>
                <a:cs typeface="Space Grotesk" pitchFamily="34" charset="-120"/>
              </a:rPr>
              <a:t>Componentes: 21 piezas listas</a:t>
            </a:r>
            <a:endParaRPr lang="en-US" sz="3200" dirty="0"/>
          </a:p>
        </p:txBody>
      </p:sp>
      <p:sp>
        <p:nvSpPr>
          <p:cNvPr id="3" name="Text 1"/>
          <p:cNvSpPr/>
          <p:nvPr/>
        </p:nvSpPr>
        <p:spPr>
          <a:xfrm>
            <a:off x="812800" y="13613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CFEA"/>
                </a:solidFill>
                <a:latin typeface="Space Grotesk" pitchFamily="34" charset="0"/>
                <a:ea typeface="Space Grotesk" pitchFamily="34" charset="-122"/>
                <a:cs typeface="Space Grotesk" pitchFamily="34" charset="-120"/>
              </a:rPr>
              <a:t>Cada uno tiene en la documentación un ejemplo visual y su código para copiar.</a:t>
            </a:r>
            <a:endParaRPr lang="en-US" sz="1500" dirty="0"/>
          </a:p>
        </p:txBody>
      </p:sp>
      <p:sp>
        <p:nvSpPr>
          <p:cNvPr id="4" name="Shape 2"/>
          <p:cNvSpPr/>
          <p:nvPr/>
        </p:nvSpPr>
        <p:spPr>
          <a:xfrm>
            <a:off x="812800" y="1882080"/>
            <a:ext cx="1422400" cy="749201"/>
          </a:xfrm>
          <a:prstGeom prst="roundRect">
            <a:avLst>
              <a:gd name="adj" fmla="val 11866"/>
            </a:avLst>
          </a:prstGeom>
          <a:solidFill>
            <a:srgbClr val="2D2148"/>
          </a:solidFill>
          <a:ln/>
        </p:spPr>
        <p:txBody>
          <a:bodyPr/>
          <a:lstStyle/>
          <a:p>
            <a:endParaRPr lang="en-US"/>
          </a:p>
        </p:txBody>
      </p:sp>
      <p:sp>
        <p:nvSpPr>
          <p:cNvPr id="5" name="Text 3"/>
          <p:cNvSpPr/>
          <p:nvPr/>
        </p:nvSpPr>
        <p:spPr>
          <a:xfrm>
            <a:off x="914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Alerts</a:t>
            </a:r>
            <a:endParaRPr lang="en-US" sz="1300" dirty="0"/>
          </a:p>
        </p:txBody>
      </p:sp>
      <p:sp>
        <p:nvSpPr>
          <p:cNvPr id="6" name="Text 4"/>
          <p:cNvSpPr/>
          <p:nvPr/>
        </p:nvSpPr>
        <p:spPr>
          <a:xfrm>
            <a:off x="914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7" name="Shape 5"/>
          <p:cNvSpPr/>
          <p:nvPr/>
        </p:nvSpPr>
        <p:spPr>
          <a:xfrm>
            <a:off x="2336800" y="1882080"/>
            <a:ext cx="1422400" cy="749201"/>
          </a:xfrm>
          <a:prstGeom prst="roundRect">
            <a:avLst>
              <a:gd name="adj" fmla="val 11866"/>
            </a:avLst>
          </a:prstGeom>
          <a:solidFill>
            <a:srgbClr val="2D2148"/>
          </a:solidFill>
          <a:ln/>
        </p:spPr>
        <p:txBody>
          <a:bodyPr/>
          <a:lstStyle/>
          <a:p>
            <a:endParaRPr lang="en-US"/>
          </a:p>
        </p:txBody>
      </p:sp>
      <p:sp>
        <p:nvSpPr>
          <p:cNvPr id="8" name="Text 6"/>
          <p:cNvSpPr/>
          <p:nvPr/>
        </p:nvSpPr>
        <p:spPr>
          <a:xfrm>
            <a:off x="2438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Badge</a:t>
            </a:r>
            <a:endParaRPr lang="en-US" sz="1300" dirty="0"/>
          </a:p>
        </p:txBody>
      </p:sp>
      <p:sp>
        <p:nvSpPr>
          <p:cNvPr id="9" name="Text 7"/>
          <p:cNvSpPr/>
          <p:nvPr/>
        </p:nvSpPr>
        <p:spPr>
          <a:xfrm>
            <a:off x="2438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10" name="Shape 8"/>
          <p:cNvSpPr/>
          <p:nvPr/>
        </p:nvSpPr>
        <p:spPr>
          <a:xfrm>
            <a:off x="3860800" y="1882080"/>
            <a:ext cx="1422400" cy="749201"/>
          </a:xfrm>
          <a:prstGeom prst="roundRect">
            <a:avLst>
              <a:gd name="adj" fmla="val 11866"/>
            </a:avLst>
          </a:prstGeom>
          <a:solidFill>
            <a:srgbClr val="2D2148"/>
          </a:solidFill>
          <a:ln/>
        </p:spPr>
        <p:txBody>
          <a:bodyPr/>
          <a:lstStyle/>
          <a:p>
            <a:endParaRPr lang="en-US"/>
          </a:p>
        </p:txBody>
      </p:sp>
      <p:sp>
        <p:nvSpPr>
          <p:cNvPr id="11" name="Text 9"/>
          <p:cNvSpPr/>
          <p:nvPr/>
        </p:nvSpPr>
        <p:spPr>
          <a:xfrm>
            <a:off x="3962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Breadcrumb</a:t>
            </a:r>
            <a:endParaRPr lang="en-US" sz="1300" dirty="0"/>
          </a:p>
        </p:txBody>
      </p:sp>
      <p:sp>
        <p:nvSpPr>
          <p:cNvPr id="12" name="Text 10"/>
          <p:cNvSpPr/>
          <p:nvPr/>
        </p:nvSpPr>
        <p:spPr>
          <a:xfrm>
            <a:off x="3962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13" name="Shape 11"/>
          <p:cNvSpPr/>
          <p:nvPr/>
        </p:nvSpPr>
        <p:spPr>
          <a:xfrm>
            <a:off x="5384800" y="1882080"/>
            <a:ext cx="1422400" cy="749201"/>
          </a:xfrm>
          <a:prstGeom prst="roundRect">
            <a:avLst>
              <a:gd name="adj" fmla="val 11866"/>
            </a:avLst>
          </a:prstGeom>
          <a:solidFill>
            <a:srgbClr val="2D2148"/>
          </a:solidFill>
          <a:ln/>
        </p:spPr>
        <p:txBody>
          <a:bodyPr/>
          <a:lstStyle/>
          <a:p>
            <a:endParaRPr lang="en-US"/>
          </a:p>
        </p:txBody>
      </p:sp>
      <p:sp>
        <p:nvSpPr>
          <p:cNvPr id="14" name="Text 12"/>
          <p:cNvSpPr/>
          <p:nvPr/>
        </p:nvSpPr>
        <p:spPr>
          <a:xfrm>
            <a:off x="5486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Buttons</a:t>
            </a:r>
            <a:endParaRPr lang="en-US" sz="1300" dirty="0"/>
          </a:p>
        </p:txBody>
      </p:sp>
      <p:sp>
        <p:nvSpPr>
          <p:cNvPr id="15" name="Text 13"/>
          <p:cNvSpPr/>
          <p:nvPr/>
        </p:nvSpPr>
        <p:spPr>
          <a:xfrm>
            <a:off x="5486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16" name="Shape 14"/>
          <p:cNvSpPr/>
          <p:nvPr/>
        </p:nvSpPr>
        <p:spPr>
          <a:xfrm>
            <a:off x="6908800" y="1882080"/>
            <a:ext cx="1422400" cy="749201"/>
          </a:xfrm>
          <a:prstGeom prst="roundRect">
            <a:avLst>
              <a:gd name="adj" fmla="val 11866"/>
            </a:avLst>
          </a:prstGeom>
          <a:solidFill>
            <a:srgbClr val="2D2148"/>
          </a:solidFill>
          <a:ln/>
        </p:spPr>
        <p:txBody>
          <a:bodyPr/>
          <a:lstStyle/>
          <a:p>
            <a:endParaRPr lang="en-US"/>
          </a:p>
        </p:txBody>
      </p:sp>
      <p:sp>
        <p:nvSpPr>
          <p:cNvPr id="17" name="Text 15"/>
          <p:cNvSpPr/>
          <p:nvPr/>
        </p:nvSpPr>
        <p:spPr>
          <a:xfrm>
            <a:off x="7010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Btn group</a:t>
            </a:r>
            <a:endParaRPr lang="en-US" sz="1300" dirty="0"/>
          </a:p>
        </p:txBody>
      </p:sp>
      <p:sp>
        <p:nvSpPr>
          <p:cNvPr id="18" name="Text 16"/>
          <p:cNvSpPr/>
          <p:nvPr/>
        </p:nvSpPr>
        <p:spPr>
          <a:xfrm>
            <a:off x="7010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19" name="Shape 17"/>
          <p:cNvSpPr/>
          <p:nvPr/>
        </p:nvSpPr>
        <p:spPr>
          <a:xfrm>
            <a:off x="8432800" y="1882080"/>
            <a:ext cx="1422400" cy="749201"/>
          </a:xfrm>
          <a:prstGeom prst="roundRect">
            <a:avLst>
              <a:gd name="adj" fmla="val 11866"/>
            </a:avLst>
          </a:prstGeom>
          <a:solidFill>
            <a:srgbClr val="2D2148"/>
          </a:solidFill>
          <a:ln/>
        </p:spPr>
        <p:txBody>
          <a:bodyPr/>
          <a:lstStyle/>
          <a:p>
            <a:endParaRPr lang="en-US"/>
          </a:p>
        </p:txBody>
      </p:sp>
      <p:sp>
        <p:nvSpPr>
          <p:cNvPr id="20" name="Text 18"/>
          <p:cNvSpPr/>
          <p:nvPr/>
        </p:nvSpPr>
        <p:spPr>
          <a:xfrm>
            <a:off x="8534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Card</a:t>
            </a:r>
            <a:endParaRPr lang="en-US" sz="1300" dirty="0"/>
          </a:p>
        </p:txBody>
      </p:sp>
      <p:sp>
        <p:nvSpPr>
          <p:cNvPr id="21" name="Text 19"/>
          <p:cNvSpPr/>
          <p:nvPr/>
        </p:nvSpPr>
        <p:spPr>
          <a:xfrm>
            <a:off x="8534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22" name="Shape 20"/>
          <p:cNvSpPr/>
          <p:nvPr/>
        </p:nvSpPr>
        <p:spPr>
          <a:xfrm>
            <a:off x="9956800" y="1882080"/>
            <a:ext cx="1422400" cy="749201"/>
          </a:xfrm>
          <a:prstGeom prst="roundRect">
            <a:avLst>
              <a:gd name="adj" fmla="val 11866"/>
            </a:avLst>
          </a:prstGeom>
          <a:solidFill>
            <a:srgbClr val="7952B3"/>
          </a:solidFill>
          <a:ln/>
        </p:spPr>
        <p:txBody>
          <a:bodyPr/>
          <a:lstStyle/>
          <a:p>
            <a:endParaRPr lang="en-US"/>
          </a:p>
        </p:txBody>
      </p:sp>
      <p:sp>
        <p:nvSpPr>
          <p:cNvPr id="23" name="Text 21"/>
          <p:cNvSpPr/>
          <p:nvPr/>
        </p:nvSpPr>
        <p:spPr>
          <a:xfrm>
            <a:off x="10058400" y="2009080"/>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Carousel</a:t>
            </a:r>
            <a:endParaRPr lang="en-US" sz="1300" dirty="0"/>
          </a:p>
        </p:txBody>
      </p:sp>
      <p:sp>
        <p:nvSpPr>
          <p:cNvPr id="24" name="Text 22"/>
          <p:cNvSpPr/>
          <p:nvPr/>
        </p:nvSpPr>
        <p:spPr>
          <a:xfrm>
            <a:off x="10058400" y="2290961"/>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25" name="Shape 23"/>
          <p:cNvSpPr/>
          <p:nvPr/>
        </p:nvSpPr>
        <p:spPr>
          <a:xfrm>
            <a:off x="812800" y="2732881"/>
            <a:ext cx="1422400" cy="749201"/>
          </a:xfrm>
          <a:prstGeom prst="roundRect">
            <a:avLst>
              <a:gd name="adj" fmla="val 11866"/>
            </a:avLst>
          </a:prstGeom>
          <a:solidFill>
            <a:srgbClr val="2D2148"/>
          </a:solidFill>
          <a:ln/>
        </p:spPr>
        <p:txBody>
          <a:bodyPr/>
          <a:lstStyle/>
          <a:p>
            <a:endParaRPr lang="en-US"/>
          </a:p>
        </p:txBody>
      </p:sp>
      <p:sp>
        <p:nvSpPr>
          <p:cNvPr id="26" name="Text 24"/>
          <p:cNvSpPr/>
          <p:nvPr/>
        </p:nvSpPr>
        <p:spPr>
          <a:xfrm>
            <a:off x="914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Collapse</a:t>
            </a:r>
            <a:endParaRPr lang="en-US" sz="1300" dirty="0"/>
          </a:p>
        </p:txBody>
      </p:sp>
      <p:sp>
        <p:nvSpPr>
          <p:cNvPr id="27" name="Text 25"/>
          <p:cNvSpPr/>
          <p:nvPr/>
        </p:nvSpPr>
        <p:spPr>
          <a:xfrm>
            <a:off x="914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28" name="Shape 26"/>
          <p:cNvSpPr/>
          <p:nvPr/>
        </p:nvSpPr>
        <p:spPr>
          <a:xfrm>
            <a:off x="2336800" y="2732881"/>
            <a:ext cx="1422400" cy="749201"/>
          </a:xfrm>
          <a:prstGeom prst="roundRect">
            <a:avLst>
              <a:gd name="adj" fmla="val 11866"/>
            </a:avLst>
          </a:prstGeom>
          <a:solidFill>
            <a:srgbClr val="2D2148"/>
          </a:solidFill>
          <a:ln/>
        </p:spPr>
        <p:txBody>
          <a:bodyPr/>
          <a:lstStyle/>
          <a:p>
            <a:endParaRPr lang="en-US"/>
          </a:p>
        </p:txBody>
      </p:sp>
      <p:sp>
        <p:nvSpPr>
          <p:cNvPr id="29" name="Text 27"/>
          <p:cNvSpPr/>
          <p:nvPr/>
        </p:nvSpPr>
        <p:spPr>
          <a:xfrm>
            <a:off x="2438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Dropdowns</a:t>
            </a:r>
            <a:endParaRPr lang="en-US" sz="1300" dirty="0"/>
          </a:p>
        </p:txBody>
      </p:sp>
      <p:sp>
        <p:nvSpPr>
          <p:cNvPr id="30" name="Text 28"/>
          <p:cNvSpPr/>
          <p:nvPr/>
        </p:nvSpPr>
        <p:spPr>
          <a:xfrm>
            <a:off x="2438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31" name="Shape 29"/>
          <p:cNvSpPr/>
          <p:nvPr/>
        </p:nvSpPr>
        <p:spPr>
          <a:xfrm>
            <a:off x="3860800" y="2732881"/>
            <a:ext cx="1422400" cy="749201"/>
          </a:xfrm>
          <a:prstGeom prst="roundRect">
            <a:avLst>
              <a:gd name="adj" fmla="val 11866"/>
            </a:avLst>
          </a:prstGeom>
          <a:solidFill>
            <a:srgbClr val="2D2148"/>
          </a:solidFill>
          <a:ln/>
        </p:spPr>
        <p:txBody>
          <a:bodyPr/>
          <a:lstStyle/>
          <a:p>
            <a:endParaRPr lang="en-US"/>
          </a:p>
        </p:txBody>
      </p:sp>
      <p:sp>
        <p:nvSpPr>
          <p:cNvPr id="32" name="Text 30"/>
          <p:cNvSpPr/>
          <p:nvPr/>
        </p:nvSpPr>
        <p:spPr>
          <a:xfrm>
            <a:off x="3962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Forms</a:t>
            </a:r>
            <a:endParaRPr lang="en-US" sz="1300" dirty="0"/>
          </a:p>
        </p:txBody>
      </p:sp>
      <p:sp>
        <p:nvSpPr>
          <p:cNvPr id="33" name="Text 31"/>
          <p:cNvSpPr/>
          <p:nvPr/>
        </p:nvSpPr>
        <p:spPr>
          <a:xfrm>
            <a:off x="3962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34" name="Shape 32"/>
          <p:cNvSpPr/>
          <p:nvPr/>
        </p:nvSpPr>
        <p:spPr>
          <a:xfrm>
            <a:off x="5384800" y="2732881"/>
            <a:ext cx="1422400" cy="749201"/>
          </a:xfrm>
          <a:prstGeom prst="roundRect">
            <a:avLst>
              <a:gd name="adj" fmla="val 11866"/>
            </a:avLst>
          </a:prstGeom>
          <a:solidFill>
            <a:srgbClr val="2D2148"/>
          </a:solidFill>
          <a:ln/>
        </p:spPr>
        <p:txBody>
          <a:bodyPr/>
          <a:lstStyle/>
          <a:p>
            <a:endParaRPr lang="en-US"/>
          </a:p>
        </p:txBody>
      </p:sp>
      <p:sp>
        <p:nvSpPr>
          <p:cNvPr id="35" name="Text 33"/>
          <p:cNvSpPr/>
          <p:nvPr/>
        </p:nvSpPr>
        <p:spPr>
          <a:xfrm>
            <a:off x="5486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Input group</a:t>
            </a:r>
            <a:endParaRPr lang="en-US" sz="1300" dirty="0"/>
          </a:p>
        </p:txBody>
      </p:sp>
      <p:sp>
        <p:nvSpPr>
          <p:cNvPr id="36" name="Text 34"/>
          <p:cNvSpPr/>
          <p:nvPr/>
        </p:nvSpPr>
        <p:spPr>
          <a:xfrm>
            <a:off x="5486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37" name="Shape 35"/>
          <p:cNvSpPr/>
          <p:nvPr/>
        </p:nvSpPr>
        <p:spPr>
          <a:xfrm>
            <a:off x="6908800" y="2732881"/>
            <a:ext cx="1422400" cy="749201"/>
          </a:xfrm>
          <a:prstGeom prst="roundRect">
            <a:avLst>
              <a:gd name="adj" fmla="val 11866"/>
            </a:avLst>
          </a:prstGeom>
          <a:solidFill>
            <a:srgbClr val="2D2148"/>
          </a:solidFill>
          <a:ln/>
        </p:spPr>
        <p:txBody>
          <a:bodyPr/>
          <a:lstStyle/>
          <a:p>
            <a:endParaRPr lang="en-US"/>
          </a:p>
        </p:txBody>
      </p:sp>
      <p:sp>
        <p:nvSpPr>
          <p:cNvPr id="38" name="Text 36"/>
          <p:cNvSpPr/>
          <p:nvPr/>
        </p:nvSpPr>
        <p:spPr>
          <a:xfrm>
            <a:off x="7010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Jumbotron</a:t>
            </a:r>
            <a:endParaRPr lang="en-US" sz="1300" dirty="0"/>
          </a:p>
        </p:txBody>
      </p:sp>
      <p:sp>
        <p:nvSpPr>
          <p:cNvPr id="39" name="Text 37"/>
          <p:cNvSpPr/>
          <p:nvPr/>
        </p:nvSpPr>
        <p:spPr>
          <a:xfrm>
            <a:off x="7010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40" name="Shape 38"/>
          <p:cNvSpPr/>
          <p:nvPr/>
        </p:nvSpPr>
        <p:spPr>
          <a:xfrm>
            <a:off x="8432800" y="2732881"/>
            <a:ext cx="1422400" cy="749201"/>
          </a:xfrm>
          <a:prstGeom prst="roundRect">
            <a:avLst>
              <a:gd name="adj" fmla="val 11866"/>
            </a:avLst>
          </a:prstGeom>
          <a:solidFill>
            <a:srgbClr val="2D2148"/>
          </a:solidFill>
          <a:ln/>
        </p:spPr>
        <p:txBody>
          <a:bodyPr/>
          <a:lstStyle/>
          <a:p>
            <a:endParaRPr lang="en-US"/>
          </a:p>
        </p:txBody>
      </p:sp>
      <p:sp>
        <p:nvSpPr>
          <p:cNvPr id="41" name="Text 39"/>
          <p:cNvSpPr/>
          <p:nvPr/>
        </p:nvSpPr>
        <p:spPr>
          <a:xfrm>
            <a:off x="8534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List group</a:t>
            </a:r>
            <a:endParaRPr lang="en-US" sz="1300" dirty="0"/>
          </a:p>
        </p:txBody>
      </p:sp>
      <p:sp>
        <p:nvSpPr>
          <p:cNvPr id="42" name="Text 40"/>
          <p:cNvSpPr/>
          <p:nvPr/>
        </p:nvSpPr>
        <p:spPr>
          <a:xfrm>
            <a:off x="8534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43" name="Shape 41"/>
          <p:cNvSpPr/>
          <p:nvPr/>
        </p:nvSpPr>
        <p:spPr>
          <a:xfrm>
            <a:off x="9956800" y="2732881"/>
            <a:ext cx="1422400" cy="749201"/>
          </a:xfrm>
          <a:prstGeom prst="roundRect">
            <a:avLst>
              <a:gd name="adj" fmla="val 11866"/>
            </a:avLst>
          </a:prstGeom>
          <a:solidFill>
            <a:srgbClr val="2D2148"/>
          </a:solidFill>
          <a:ln/>
        </p:spPr>
        <p:txBody>
          <a:bodyPr/>
          <a:lstStyle/>
          <a:p>
            <a:endParaRPr lang="en-US"/>
          </a:p>
        </p:txBody>
      </p:sp>
      <p:sp>
        <p:nvSpPr>
          <p:cNvPr id="44" name="Text 42"/>
          <p:cNvSpPr/>
          <p:nvPr/>
        </p:nvSpPr>
        <p:spPr>
          <a:xfrm>
            <a:off x="10058400" y="2859881"/>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Modal</a:t>
            </a:r>
            <a:endParaRPr lang="en-US" sz="1300" dirty="0"/>
          </a:p>
        </p:txBody>
      </p:sp>
      <p:sp>
        <p:nvSpPr>
          <p:cNvPr id="45" name="Text 43"/>
          <p:cNvSpPr/>
          <p:nvPr/>
        </p:nvSpPr>
        <p:spPr>
          <a:xfrm>
            <a:off x="10058400" y="3141762"/>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46" name="Shape 44"/>
          <p:cNvSpPr/>
          <p:nvPr/>
        </p:nvSpPr>
        <p:spPr>
          <a:xfrm>
            <a:off x="812800" y="3583682"/>
            <a:ext cx="1422400" cy="749201"/>
          </a:xfrm>
          <a:prstGeom prst="roundRect">
            <a:avLst>
              <a:gd name="adj" fmla="val 11866"/>
            </a:avLst>
          </a:prstGeom>
          <a:solidFill>
            <a:srgbClr val="2D2148"/>
          </a:solidFill>
          <a:ln/>
        </p:spPr>
        <p:txBody>
          <a:bodyPr/>
          <a:lstStyle/>
          <a:p>
            <a:endParaRPr lang="en-US"/>
          </a:p>
        </p:txBody>
      </p:sp>
      <p:sp>
        <p:nvSpPr>
          <p:cNvPr id="47" name="Text 45"/>
          <p:cNvSpPr/>
          <p:nvPr/>
        </p:nvSpPr>
        <p:spPr>
          <a:xfrm>
            <a:off x="914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Navs</a:t>
            </a:r>
            <a:endParaRPr lang="en-US" sz="1300" dirty="0"/>
          </a:p>
        </p:txBody>
      </p:sp>
      <p:sp>
        <p:nvSpPr>
          <p:cNvPr id="48" name="Text 46"/>
          <p:cNvSpPr/>
          <p:nvPr/>
        </p:nvSpPr>
        <p:spPr>
          <a:xfrm>
            <a:off x="914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49" name="Shape 47"/>
          <p:cNvSpPr/>
          <p:nvPr/>
        </p:nvSpPr>
        <p:spPr>
          <a:xfrm>
            <a:off x="2336800" y="3583682"/>
            <a:ext cx="1422400" cy="749201"/>
          </a:xfrm>
          <a:prstGeom prst="roundRect">
            <a:avLst>
              <a:gd name="adj" fmla="val 11866"/>
            </a:avLst>
          </a:prstGeom>
          <a:solidFill>
            <a:srgbClr val="7952B3"/>
          </a:solidFill>
          <a:ln/>
        </p:spPr>
        <p:txBody>
          <a:bodyPr/>
          <a:lstStyle/>
          <a:p>
            <a:endParaRPr lang="en-US"/>
          </a:p>
        </p:txBody>
      </p:sp>
      <p:sp>
        <p:nvSpPr>
          <p:cNvPr id="50" name="Text 48"/>
          <p:cNvSpPr/>
          <p:nvPr/>
        </p:nvSpPr>
        <p:spPr>
          <a:xfrm>
            <a:off x="2438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Navbar</a:t>
            </a:r>
            <a:endParaRPr lang="en-US" sz="1300" dirty="0"/>
          </a:p>
        </p:txBody>
      </p:sp>
      <p:sp>
        <p:nvSpPr>
          <p:cNvPr id="51" name="Text 49"/>
          <p:cNvSpPr/>
          <p:nvPr/>
        </p:nvSpPr>
        <p:spPr>
          <a:xfrm>
            <a:off x="2438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52" name="Shape 50"/>
          <p:cNvSpPr/>
          <p:nvPr/>
        </p:nvSpPr>
        <p:spPr>
          <a:xfrm>
            <a:off x="3860800" y="3583682"/>
            <a:ext cx="1422400" cy="749201"/>
          </a:xfrm>
          <a:prstGeom prst="roundRect">
            <a:avLst>
              <a:gd name="adj" fmla="val 11866"/>
            </a:avLst>
          </a:prstGeom>
          <a:solidFill>
            <a:srgbClr val="2D2148"/>
          </a:solidFill>
          <a:ln/>
        </p:spPr>
        <p:txBody>
          <a:bodyPr/>
          <a:lstStyle/>
          <a:p>
            <a:endParaRPr lang="en-US"/>
          </a:p>
        </p:txBody>
      </p:sp>
      <p:sp>
        <p:nvSpPr>
          <p:cNvPr id="53" name="Text 51"/>
          <p:cNvSpPr/>
          <p:nvPr/>
        </p:nvSpPr>
        <p:spPr>
          <a:xfrm>
            <a:off x="3962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Pagination</a:t>
            </a:r>
            <a:endParaRPr lang="en-US" sz="1300" dirty="0"/>
          </a:p>
        </p:txBody>
      </p:sp>
      <p:sp>
        <p:nvSpPr>
          <p:cNvPr id="54" name="Text 52"/>
          <p:cNvSpPr/>
          <p:nvPr/>
        </p:nvSpPr>
        <p:spPr>
          <a:xfrm>
            <a:off x="3962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55" name="Shape 53"/>
          <p:cNvSpPr/>
          <p:nvPr/>
        </p:nvSpPr>
        <p:spPr>
          <a:xfrm>
            <a:off x="5384800" y="3583682"/>
            <a:ext cx="1422400" cy="749201"/>
          </a:xfrm>
          <a:prstGeom prst="roundRect">
            <a:avLst>
              <a:gd name="adj" fmla="val 11866"/>
            </a:avLst>
          </a:prstGeom>
          <a:solidFill>
            <a:srgbClr val="2D2148"/>
          </a:solidFill>
          <a:ln/>
        </p:spPr>
        <p:txBody>
          <a:bodyPr/>
          <a:lstStyle/>
          <a:p>
            <a:endParaRPr lang="en-US"/>
          </a:p>
        </p:txBody>
      </p:sp>
      <p:sp>
        <p:nvSpPr>
          <p:cNvPr id="56" name="Text 54"/>
          <p:cNvSpPr/>
          <p:nvPr/>
        </p:nvSpPr>
        <p:spPr>
          <a:xfrm>
            <a:off x="5486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Popovers</a:t>
            </a:r>
            <a:endParaRPr lang="en-US" sz="1300" dirty="0"/>
          </a:p>
        </p:txBody>
      </p:sp>
      <p:sp>
        <p:nvSpPr>
          <p:cNvPr id="57" name="Text 55"/>
          <p:cNvSpPr/>
          <p:nvPr/>
        </p:nvSpPr>
        <p:spPr>
          <a:xfrm>
            <a:off x="5486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58" name="Shape 56"/>
          <p:cNvSpPr/>
          <p:nvPr/>
        </p:nvSpPr>
        <p:spPr>
          <a:xfrm>
            <a:off x="6908800" y="3583682"/>
            <a:ext cx="1422400" cy="749201"/>
          </a:xfrm>
          <a:prstGeom prst="roundRect">
            <a:avLst>
              <a:gd name="adj" fmla="val 11866"/>
            </a:avLst>
          </a:prstGeom>
          <a:solidFill>
            <a:srgbClr val="2D2148"/>
          </a:solidFill>
          <a:ln/>
        </p:spPr>
        <p:txBody>
          <a:bodyPr/>
          <a:lstStyle/>
          <a:p>
            <a:endParaRPr lang="en-US"/>
          </a:p>
        </p:txBody>
      </p:sp>
      <p:sp>
        <p:nvSpPr>
          <p:cNvPr id="59" name="Text 57"/>
          <p:cNvSpPr/>
          <p:nvPr/>
        </p:nvSpPr>
        <p:spPr>
          <a:xfrm>
            <a:off x="7010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Progress</a:t>
            </a:r>
            <a:endParaRPr lang="en-US" sz="1300" dirty="0"/>
          </a:p>
        </p:txBody>
      </p:sp>
      <p:sp>
        <p:nvSpPr>
          <p:cNvPr id="60" name="Text 58"/>
          <p:cNvSpPr/>
          <p:nvPr/>
        </p:nvSpPr>
        <p:spPr>
          <a:xfrm>
            <a:off x="7010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2A8"/>
                </a:solidFill>
                <a:latin typeface="Space Grotesk" pitchFamily="34" charset="0"/>
                <a:ea typeface="Space Grotesk" pitchFamily="34" charset="-122"/>
                <a:cs typeface="Space Grotesk" pitchFamily="34" charset="-120"/>
              </a:rPr>
              <a:t>CSS</a:t>
            </a:r>
            <a:endParaRPr lang="en-US" sz="1200" dirty="0"/>
          </a:p>
        </p:txBody>
      </p:sp>
      <p:sp>
        <p:nvSpPr>
          <p:cNvPr id="61" name="Shape 59"/>
          <p:cNvSpPr/>
          <p:nvPr/>
        </p:nvSpPr>
        <p:spPr>
          <a:xfrm>
            <a:off x="8432800" y="3583682"/>
            <a:ext cx="1422400" cy="749201"/>
          </a:xfrm>
          <a:prstGeom prst="roundRect">
            <a:avLst>
              <a:gd name="adj" fmla="val 11866"/>
            </a:avLst>
          </a:prstGeom>
          <a:solidFill>
            <a:srgbClr val="2D2148"/>
          </a:solidFill>
          <a:ln/>
        </p:spPr>
        <p:txBody>
          <a:bodyPr/>
          <a:lstStyle/>
          <a:p>
            <a:endParaRPr lang="en-US"/>
          </a:p>
        </p:txBody>
      </p:sp>
      <p:sp>
        <p:nvSpPr>
          <p:cNvPr id="62" name="Text 60"/>
          <p:cNvSpPr/>
          <p:nvPr/>
        </p:nvSpPr>
        <p:spPr>
          <a:xfrm>
            <a:off x="8534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Scrollspy</a:t>
            </a:r>
            <a:endParaRPr lang="en-US" sz="1300" dirty="0"/>
          </a:p>
        </p:txBody>
      </p:sp>
      <p:sp>
        <p:nvSpPr>
          <p:cNvPr id="63" name="Text 61"/>
          <p:cNvSpPr/>
          <p:nvPr/>
        </p:nvSpPr>
        <p:spPr>
          <a:xfrm>
            <a:off x="8534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64" name="Shape 62"/>
          <p:cNvSpPr/>
          <p:nvPr/>
        </p:nvSpPr>
        <p:spPr>
          <a:xfrm>
            <a:off x="9956800" y="3583682"/>
            <a:ext cx="1422400" cy="749201"/>
          </a:xfrm>
          <a:prstGeom prst="roundRect">
            <a:avLst>
              <a:gd name="adj" fmla="val 11866"/>
            </a:avLst>
          </a:prstGeom>
          <a:solidFill>
            <a:srgbClr val="2D2148"/>
          </a:solidFill>
          <a:ln/>
        </p:spPr>
        <p:txBody>
          <a:bodyPr/>
          <a:lstStyle/>
          <a:p>
            <a:endParaRPr lang="en-US"/>
          </a:p>
        </p:txBody>
      </p:sp>
      <p:sp>
        <p:nvSpPr>
          <p:cNvPr id="65" name="Text 63"/>
          <p:cNvSpPr/>
          <p:nvPr/>
        </p:nvSpPr>
        <p:spPr>
          <a:xfrm>
            <a:off x="10058400" y="3710682"/>
            <a:ext cx="1270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F4FB"/>
                </a:solidFill>
                <a:latin typeface="Space Grotesk" pitchFamily="34" charset="0"/>
                <a:ea typeface="Space Grotesk" pitchFamily="34" charset="-122"/>
                <a:cs typeface="Space Grotesk" pitchFamily="34" charset="-120"/>
              </a:rPr>
              <a:t>Tooltips</a:t>
            </a:r>
            <a:endParaRPr lang="en-US" sz="1300" dirty="0"/>
          </a:p>
        </p:txBody>
      </p:sp>
      <p:sp>
        <p:nvSpPr>
          <p:cNvPr id="66" name="Text 64"/>
          <p:cNvSpPr/>
          <p:nvPr/>
        </p:nvSpPr>
        <p:spPr>
          <a:xfrm>
            <a:off x="10058400" y="3992563"/>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84"/>
                </a:solidFill>
                <a:latin typeface="Space Grotesk" pitchFamily="34" charset="0"/>
                <a:ea typeface="Space Grotesk" pitchFamily="34" charset="-122"/>
                <a:cs typeface="Space Grotesk" pitchFamily="34" charset="-120"/>
              </a:rPr>
              <a:t>JS</a:t>
            </a:r>
            <a:endParaRPr lang="en-US" sz="1200" dirty="0"/>
          </a:p>
        </p:txBody>
      </p:sp>
      <p:sp>
        <p:nvSpPr>
          <p:cNvPr id="67" name="Text 65"/>
          <p:cNvSpPr/>
          <p:nvPr/>
        </p:nvSpPr>
        <p:spPr>
          <a:xfrm>
            <a:off x="812800" y="458688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E484"/>
                </a:solidFill>
                <a:latin typeface="Space Grotesk" pitchFamily="34" charset="0"/>
                <a:ea typeface="Space Grotesk" pitchFamily="34" charset="-122"/>
                <a:cs typeface="Space Grotesk" pitchFamily="34" charset="-120"/>
              </a:rPr>
              <a:t>JS</a:t>
            </a:r>
            <a:r>
              <a:rPr lang="en-US" sz="1400" dirty="0">
                <a:solidFill>
                  <a:srgbClr val="D9CFEA"/>
                </a:solidFill>
                <a:latin typeface="Space Grotesk" pitchFamily="34" charset="0"/>
                <a:ea typeface="Space Grotesk" pitchFamily="34" charset="-122"/>
                <a:cs typeface="Space Grotesk" pitchFamily="34" charset="-120"/>
              </a:rPr>
              <a:t> = necesita los scripts de Bootstrap para funcionar · </a:t>
            </a:r>
            <a:r>
              <a:rPr lang="en-US" sz="1400" dirty="0">
                <a:solidFill>
                  <a:srgbClr val="F7F4FB"/>
                </a:solidFill>
                <a:latin typeface="Space Grotesk" pitchFamily="34" charset="0"/>
                <a:ea typeface="Space Grotesk" pitchFamily="34" charset="-122"/>
                <a:cs typeface="Space Grotesk" pitchFamily="34" charset="-120"/>
              </a:rPr>
              <a:t>Morado</a:t>
            </a:r>
            <a:r>
              <a:rPr lang="en-US" sz="1400" dirty="0">
                <a:solidFill>
                  <a:srgbClr val="D9CFEA"/>
                </a:solidFill>
                <a:latin typeface="Space Grotesk" pitchFamily="34" charset="0"/>
                <a:ea typeface="Space Grotesk" pitchFamily="34" charset="-122"/>
                <a:cs typeface="Space Grotesk" pitchFamily="34" charset="-120"/>
              </a:rPr>
              <a:t> = los que veremos a fondo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Navbar: el menú de tu sitio</a:t>
            </a:r>
            <a:endParaRPr lang="en-US" sz="3200" dirty="0"/>
          </a:p>
        </p:txBody>
      </p:sp>
      <p:sp>
        <p:nvSpPr>
          <p:cNvPr id="3" name="Shape 1"/>
          <p:cNvSpPr/>
          <p:nvPr/>
        </p:nvSpPr>
        <p:spPr>
          <a:xfrm>
            <a:off x="812800" y="1462980"/>
            <a:ext cx="10566400" cy="589260"/>
          </a:xfrm>
          <a:prstGeom prst="roundRect">
            <a:avLst>
              <a:gd name="adj" fmla="val 12931"/>
            </a:avLst>
          </a:prstGeom>
          <a:solidFill>
            <a:srgbClr val="563D7C"/>
          </a:solidFill>
          <a:ln/>
        </p:spPr>
        <p:txBody>
          <a:bodyPr/>
          <a:lstStyle/>
          <a:p>
            <a:endParaRPr lang="en-US"/>
          </a:p>
        </p:txBody>
      </p:sp>
      <p:sp>
        <p:nvSpPr>
          <p:cNvPr id="4" name="Text 2"/>
          <p:cNvSpPr/>
          <p:nvPr/>
        </p:nvSpPr>
        <p:spPr>
          <a:xfrm>
            <a:off x="1066800" y="1615380"/>
            <a:ext cx="8178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4FB"/>
                </a:solidFill>
                <a:latin typeface="Space Grotesk" pitchFamily="34" charset="0"/>
                <a:ea typeface="Space Grotesk" pitchFamily="34" charset="-122"/>
                <a:cs typeface="Space Grotesk" pitchFamily="34" charset="-120"/>
              </a:rPr>
              <a:t>MiSitio</a:t>
            </a:r>
            <a:endParaRPr lang="en-US" sz="1600" dirty="0"/>
          </a:p>
        </p:txBody>
      </p:sp>
      <p:sp>
        <p:nvSpPr>
          <p:cNvPr id="5" name="Text 3"/>
          <p:cNvSpPr/>
          <p:nvPr/>
        </p:nvSpPr>
        <p:spPr>
          <a:xfrm>
            <a:off x="2053134" y="1633141"/>
            <a:ext cx="54685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4FB"/>
                </a:solidFill>
                <a:latin typeface="Space Grotesk" pitchFamily="34" charset="0"/>
                <a:ea typeface="Space Grotesk" pitchFamily="34" charset="-122"/>
                <a:cs typeface="Space Grotesk" pitchFamily="34" charset="-120"/>
              </a:rPr>
              <a:t>Inicio</a:t>
            </a:r>
            <a:endParaRPr lang="en-US" sz="1400" dirty="0"/>
          </a:p>
        </p:txBody>
      </p:sp>
      <p:sp>
        <p:nvSpPr>
          <p:cNvPr id="6" name="Text 4"/>
          <p:cNvSpPr/>
          <p:nvPr/>
        </p:nvSpPr>
        <p:spPr>
          <a:xfrm>
            <a:off x="2813645" y="1633141"/>
            <a:ext cx="92904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FC2E6"/>
                </a:solidFill>
                <a:latin typeface="Space Grotesk" pitchFamily="34" charset="0"/>
                <a:ea typeface="Space Grotesk" pitchFamily="34" charset="-122"/>
                <a:cs typeface="Space Grotesk" pitchFamily="34" charset="-120"/>
              </a:rPr>
              <a:t>Servicios</a:t>
            </a:r>
            <a:endParaRPr lang="en-US" sz="1400" dirty="0"/>
          </a:p>
        </p:txBody>
      </p:sp>
      <p:sp>
        <p:nvSpPr>
          <p:cNvPr id="7" name="Text 5"/>
          <p:cNvSpPr/>
          <p:nvPr/>
        </p:nvSpPr>
        <p:spPr>
          <a:xfrm>
            <a:off x="3892649" y="1633141"/>
            <a:ext cx="96357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FC2E6"/>
                </a:solidFill>
                <a:latin typeface="Space Grotesk" pitchFamily="34" charset="0"/>
                <a:ea typeface="Space Grotesk" pitchFamily="34" charset="-122"/>
                <a:cs typeface="Space Grotesk" pitchFamily="34" charset="-120"/>
              </a:rPr>
              <a:t>Contacto</a:t>
            </a:r>
            <a:endParaRPr lang="en-US" sz="1400" dirty="0"/>
          </a:p>
        </p:txBody>
      </p:sp>
      <p:sp>
        <p:nvSpPr>
          <p:cNvPr id="8" name="Text 6"/>
          <p:cNvSpPr/>
          <p:nvPr/>
        </p:nvSpPr>
        <p:spPr>
          <a:xfrm>
            <a:off x="10283527" y="1650901"/>
            <a:ext cx="1010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2E6"/>
                </a:solidFill>
                <a:latin typeface="Space Grotesk" pitchFamily="34" charset="0"/>
                <a:ea typeface="Space Grotesk" pitchFamily="34" charset="-122"/>
                <a:cs typeface="Space Grotesk" pitchFamily="34" charset="-120"/>
              </a:rPr>
              <a:t>vista previa</a:t>
            </a:r>
            <a:endParaRPr lang="en-US" sz="1200" dirty="0"/>
          </a:p>
        </p:txBody>
      </p:sp>
      <p:sp>
        <p:nvSpPr>
          <p:cNvPr id="9" name="Text 7"/>
          <p:cNvSpPr/>
          <p:nvPr/>
        </p:nvSpPr>
        <p:spPr>
          <a:xfrm>
            <a:off x="812800" y="2255441"/>
            <a:ext cx="10566400" cy="3007122"/>
          </a:xfrm>
          <a:prstGeom prst="roundRect">
            <a:avLst>
              <a:gd name="adj" fmla="val 3379"/>
            </a:avLst>
          </a:prstGeom>
          <a:solidFill>
            <a:srgbClr val="1E1433"/>
          </a:solidFill>
          <a:ln/>
        </p:spPr>
        <p:txBody>
          <a:bodyPr wrap="none" lIns="173442" tIns="148042" rIns="0" bIns="122642" rtlCol="0" anchor="t">
            <a:normAutofit/>
          </a:bodyPr>
          <a:lstStyle/>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&lt;nav class="navbar navbar-expand-lg navbar-dark </a:t>
            </a:r>
            <a:r>
              <a:rPr lang="en-US" sz="1200" dirty="0">
                <a:solidFill>
                  <a:srgbClr val="FFE484"/>
                </a:solidFill>
                <a:latin typeface="JetBrains Mono" pitchFamily="49" charset="0"/>
                <a:ea typeface="JetBrains Mono" pitchFamily="49" charset="-122"/>
                <a:cs typeface="JetBrains Mono" pitchFamily="49" charset="-120"/>
              </a:rPr>
              <a:t>bg-primary</a:t>
            </a:r>
            <a:r>
              <a:rPr lang="en-US" sz="1200" dirty="0">
                <a:solidFill>
                  <a:srgbClr val="F7F4FB"/>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&lt;a class="navbar-brand" href="#"&gt;MiSitio&lt;/a&gt;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&lt;button class="navbar-toggler" </a:t>
            </a:r>
            <a:r>
              <a:rPr lang="en-US" sz="1200" dirty="0">
                <a:solidFill>
                  <a:srgbClr val="FFE484"/>
                </a:solidFill>
                <a:latin typeface="JetBrains Mono" pitchFamily="49" charset="0"/>
                <a:ea typeface="JetBrains Mono" pitchFamily="49" charset="-122"/>
                <a:cs typeface="JetBrains Mono" pitchFamily="49" charset="-120"/>
              </a:rPr>
              <a:t>data-toggle="collapse" data-target="#menu"</a:t>
            </a:r>
            <a:r>
              <a:rPr lang="en-US" sz="1200" dirty="0">
                <a:solidFill>
                  <a:srgbClr val="F7F4FB"/>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&lt;span class="navbar-toggler-icon"&gt;&lt;/span&gt;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&lt;/button&gt;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 class="collapse navbar-collapse" </a:t>
            </a:r>
            <a:r>
              <a:rPr lang="en-US" sz="1200" dirty="0">
                <a:solidFill>
                  <a:srgbClr val="FFE484"/>
                </a:solidFill>
                <a:latin typeface="JetBrains Mono" pitchFamily="49" charset="0"/>
                <a:ea typeface="JetBrains Mono" pitchFamily="49" charset="-122"/>
                <a:cs typeface="JetBrains Mono" pitchFamily="49" charset="-120"/>
              </a:rPr>
              <a:t>id="menu"</a:t>
            </a:r>
            <a:r>
              <a:rPr lang="en-US" sz="1200" dirty="0">
                <a:solidFill>
                  <a:srgbClr val="F7F4FB"/>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&lt;ul class="navbar-nav"&gt;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&lt;li class="nav-item active"&gt;&lt;a class="nav-link" href="#"&gt;Inicio&lt;/a&gt;&lt;/li&gt;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&lt;li class="nav-item"&gt;&lt;a class="nav-link" href="#"&gt;Servicios&lt;/a&gt;&lt;/li&gt;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&lt;/ul&gt;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&lt;/nav&gt;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Carrusel: imágenes que se deslizan</a:t>
            </a:r>
            <a:endParaRPr lang="en-US" sz="3200" dirty="0"/>
          </a:p>
        </p:txBody>
      </p:sp>
      <p:sp>
        <p:nvSpPr>
          <p:cNvPr id="3" name="Shape 1"/>
          <p:cNvSpPr/>
          <p:nvPr/>
        </p:nvSpPr>
        <p:spPr>
          <a:xfrm>
            <a:off x="812800" y="1462980"/>
            <a:ext cx="2794000" cy="1587500"/>
          </a:xfrm>
          <a:prstGeom prst="roundRect">
            <a:avLst>
              <a:gd name="adj" fmla="val 6400"/>
            </a:avLst>
          </a:prstGeom>
          <a:gradFill rotWithShape="1">
            <a:gsLst>
              <a:gs pos="0">
                <a:srgbClr val="7952B3"/>
              </a:gs>
              <a:gs pos="60000">
                <a:srgbClr val="563D7C"/>
              </a:gs>
              <a:gs pos="100000">
                <a:srgbClr val="2D2148"/>
              </a:gs>
            </a:gsLst>
            <a:lin ang="2700000" scaled="0"/>
          </a:gradFill>
          <a:ln/>
        </p:spPr>
        <p:txBody>
          <a:bodyPr/>
          <a:lstStyle/>
          <a:p>
            <a:endParaRPr lang="en-US"/>
          </a:p>
        </p:txBody>
      </p:sp>
      <p:sp>
        <p:nvSpPr>
          <p:cNvPr id="4" name="Text 2"/>
          <p:cNvSpPr/>
          <p:nvPr/>
        </p:nvSpPr>
        <p:spPr>
          <a:xfrm>
            <a:off x="939800" y="2066230"/>
            <a:ext cx="304800" cy="391120"/>
          </a:xfrm>
          <a:prstGeom prst="rect">
            <a:avLst/>
          </a:prstGeom>
          <a:noFill/>
          <a:ln/>
        </p:spPr>
        <p:txBody>
          <a:bodyPr wrap="square" lIns="0" tIns="0" rIns="0" bIns="0" rtlCol="0" anchor="t">
            <a:normAutofit/>
          </a:bodyPr>
          <a:lstStyle/>
          <a:p>
            <a:pPr marL="0" indent="0" algn="l">
              <a:lnSpc>
                <a:spcPts val="2880"/>
              </a:lnSpc>
              <a:buNone/>
            </a:pPr>
            <a:r>
              <a:rPr lang="en-US" sz="2400" dirty="0">
                <a:solidFill>
                  <a:srgbClr val="F7F4FB"/>
                </a:solidFill>
                <a:latin typeface="Space Grotesk" pitchFamily="34" charset="0"/>
                <a:ea typeface="Space Grotesk" pitchFamily="34" charset="-122"/>
                <a:cs typeface="Space Grotesk" pitchFamily="34" charset="-120"/>
              </a:rPr>
              <a:t>‹</a:t>
            </a:r>
            <a:endParaRPr lang="en-US" sz="2400" dirty="0"/>
          </a:p>
        </p:txBody>
      </p:sp>
      <p:sp>
        <p:nvSpPr>
          <p:cNvPr id="5" name="Text 3"/>
          <p:cNvSpPr/>
          <p:nvPr/>
        </p:nvSpPr>
        <p:spPr>
          <a:xfrm>
            <a:off x="3175000" y="2066230"/>
            <a:ext cx="304800" cy="391120"/>
          </a:xfrm>
          <a:prstGeom prst="rect">
            <a:avLst/>
          </a:prstGeom>
          <a:noFill/>
          <a:ln/>
        </p:spPr>
        <p:txBody>
          <a:bodyPr wrap="square" lIns="0" tIns="0" rIns="0" bIns="0" rtlCol="0" anchor="t">
            <a:normAutofit/>
          </a:bodyPr>
          <a:lstStyle/>
          <a:p>
            <a:pPr marL="0" indent="0" algn="r">
              <a:lnSpc>
                <a:spcPts val="2880"/>
              </a:lnSpc>
              <a:buNone/>
            </a:pPr>
            <a:r>
              <a:rPr lang="en-US" sz="2400" dirty="0">
                <a:solidFill>
                  <a:srgbClr val="F7F4FB"/>
                </a:solidFill>
                <a:latin typeface="Space Grotesk" pitchFamily="34" charset="0"/>
                <a:ea typeface="Space Grotesk" pitchFamily="34" charset="-122"/>
                <a:cs typeface="Space Grotesk" pitchFamily="34" charset="-120"/>
              </a:rPr>
              <a:t>›</a:t>
            </a:r>
            <a:endParaRPr lang="en-US" sz="2400" dirty="0"/>
          </a:p>
        </p:txBody>
      </p:sp>
      <p:sp>
        <p:nvSpPr>
          <p:cNvPr id="6" name="Text 4"/>
          <p:cNvSpPr/>
          <p:nvPr/>
        </p:nvSpPr>
        <p:spPr>
          <a:xfrm>
            <a:off x="770890" y="2097980"/>
            <a:ext cx="2877820" cy="27424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F7F4FB"/>
                </a:solidFill>
                <a:latin typeface="Space Grotesk" pitchFamily="34" charset="0"/>
                <a:ea typeface="Space Grotesk" pitchFamily="34" charset="-122"/>
                <a:cs typeface="Space Grotesk" pitchFamily="34" charset="-120"/>
              </a:rPr>
              <a:t>Imagen 1 de 3</a:t>
            </a:r>
            <a:endParaRPr lang="en-US" sz="1400" dirty="0"/>
          </a:p>
        </p:txBody>
      </p:sp>
      <p:sp>
        <p:nvSpPr>
          <p:cNvPr id="7" name="Shape 5"/>
          <p:cNvSpPr/>
          <p:nvPr/>
        </p:nvSpPr>
        <p:spPr>
          <a:xfrm>
            <a:off x="1955800" y="2809180"/>
            <a:ext cx="152400" cy="38100"/>
          </a:xfrm>
          <a:prstGeom prst="rect">
            <a:avLst/>
          </a:prstGeom>
          <a:solidFill>
            <a:srgbClr val="F7F4FB"/>
          </a:solidFill>
          <a:ln/>
        </p:spPr>
        <p:txBody>
          <a:bodyPr/>
          <a:lstStyle/>
          <a:p>
            <a:endParaRPr lang="en-US"/>
          </a:p>
        </p:txBody>
      </p:sp>
      <p:sp>
        <p:nvSpPr>
          <p:cNvPr id="8" name="Shape 6"/>
          <p:cNvSpPr/>
          <p:nvPr/>
        </p:nvSpPr>
        <p:spPr>
          <a:xfrm>
            <a:off x="2133600" y="2809180"/>
            <a:ext cx="152400" cy="38100"/>
          </a:xfrm>
          <a:prstGeom prst="rect">
            <a:avLst/>
          </a:prstGeom>
          <a:solidFill>
            <a:srgbClr val="9C88BE"/>
          </a:solidFill>
          <a:ln/>
        </p:spPr>
        <p:txBody>
          <a:bodyPr/>
          <a:lstStyle/>
          <a:p>
            <a:endParaRPr lang="en-US"/>
          </a:p>
        </p:txBody>
      </p:sp>
      <p:sp>
        <p:nvSpPr>
          <p:cNvPr id="9" name="Shape 7"/>
          <p:cNvSpPr/>
          <p:nvPr/>
        </p:nvSpPr>
        <p:spPr>
          <a:xfrm>
            <a:off x="2311400" y="2809180"/>
            <a:ext cx="152400" cy="38100"/>
          </a:xfrm>
          <a:prstGeom prst="rect">
            <a:avLst/>
          </a:prstGeom>
          <a:solidFill>
            <a:srgbClr val="9C88BE"/>
          </a:solidFill>
          <a:ln/>
        </p:spPr>
        <p:txBody>
          <a:bodyPr/>
          <a:lstStyle/>
          <a:p>
            <a:endParaRPr lang="en-US"/>
          </a:p>
        </p:txBody>
      </p:sp>
      <p:sp>
        <p:nvSpPr>
          <p:cNvPr id="10" name="Text 8"/>
          <p:cNvSpPr/>
          <p:nvPr/>
        </p:nvSpPr>
        <p:spPr>
          <a:xfrm>
            <a:off x="3911600" y="1781870"/>
            <a:ext cx="769162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458"/>
                </a:solidFill>
                <a:latin typeface="Space Grotesk" pitchFamily="34" charset="0"/>
                <a:ea typeface="Space Grotesk" pitchFamily="34" charset="-122"/>
                <a:cs typeface="Space Grotesk" pitchFamily="34" charset="-120"/>
              </a:rPr>
              <a:t>carousel-item</a:t>
            </a:r>
            <a:r>
              <a:rPr lang="en-US" sz="1400" dirty="0">
                <a:solidFill>
                  <a:srgbClr val="4A4458"/>
                </a:solidFill>
                <a:latin typeface="Space Grotesk" pitchFamily="34" charset="0"/>
                <a:ea typeface="Space Grotesk" pitchFamily="34" charset="-122"/>
                <a:cs typeface="Space Grotesk" pitchFamily="34" charset="-120"/>
              </a:rPr>
              <a:t>: una por cada imagen. Solo una lleva </a:t>
            </a:r>
            <a:r>
              <a:rPr lang="en-US" sz="1400" b="1" dirty="0">
                <a:solidFill>
                  <a:srgbClr val="4A4458"/>
                </a:solidFill>
                <a:latin typeface="Space Grotesk" pitchFamily="34" charset="0"/>
                <a:ea typeface="Space Grotesk" pitchFamily="34" charset="-122"/>
                <a:cs typeface="Space Grotesk" pitchFamily="34" charset="-120"/>
              </a:rPr>
              <a:t>active</a:t>
            </a:r>
            <a:r>
              <a:rPr lang="en-US" sz="1400" dirty="0">
                <a:solidFill>
                  <a:srgbClr val="4A4458"/>
                </a:solidFill>
                <a:latin typeface="Space Grotesk" pitchFamily="34" charset="0"/>
                <a:ea typeface="Space Grotesk" pitchFamily="34" charset="-122"/>
                <a:cs typeface="Space Grotesk" pitchFamily="34" charset="-120"/>
              </a:rPr>
              <a:t> (la que se ve al inicio).</a:t>
            </a:r>
            <a:endParaRPr lang="en-US" sz="1400" dirty="0"/>
          </a:p>
        </p:txBody>
      </p:sp>
      <p:sp>
        <p:nvSpPr>
          <p:cNvPr id="11" name="Text 9"/>
          <p:cNvSpPr/>
          <p:nvPr/>
        </p:nvSpPr>
        <p:spPr>
          <a:xfrm>
            <a:off x="3911600" y="2132310"/>
            <a:ext cx="769162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458"/>
                </a:solidFill>
                <a:latin typeface="Space Grotesk" pitchFamily="34" charset="0"/>
                <a:ea typeface="Space Grotesk" pitchFamily="34" charset="-122"/>
                <a:cs typeface="Space Grotesk" pitchFamily="34" charset="-120"/>
              </a:rPr>
              <a:t>data-ride="carousel"</a:t>
            </a:r>
            <a:r>
              <a:rPr lang="en-US" sz="1400" dirty="0">
                <a:solidFill>
                  <a:srgbClr val="4A4458"/>
                </a:solidFill>
                <a:latin typeface="Space Grotesk" pitchFamily="34" charset="0"/>
                <a:ea typeface="Space Grotesk" pitchFamily="34" charset="-122"/>
                <a:cs typeface="Space Grotesk" pitchFamily="34" charset="-120"/>
              </a:rPr>
              <a:t>: hace que avance solo.</a:t>
            </a:r>
            <a:endParaRPr lang="en-US" sz="1400" dirty="0"/>
          </a:p>
        </p:txBody>
      </p:sp>
      <p:sp>
        <p:nvSpPr>
          <p:cNvPr id="12" name="Text 10"/>
          <p:cNvSpPr/>
          <p:nvPr/>
        </p:nvSpPr>
        <p:spPr>
          <a:xfrm>
            <a:off x="3911600" y="2482751"/>
            <a:ext cx="769162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458"/>
                </a:solidFill>
                <a:latin typeface="Space Grotesk" pitchFamily="34" charset="0"/>
                <a:ea typeface="Space Grotesk" pitchFamily="34" charset="-122"/>
                <a:cs typeface="Space Grotesk" pitchFamily="34" charset="-120"/>
              </a:rPr>
              <a:t>Flechas</a:t>
            </a:r>
            <a:r>
              <a:rPr lang="en-US" sz="1400" dirty="0">
                <a:solidFill>
                  <a:srgbClr val="4A4458"/>
                </a:solidFill>
                <a:latin typeface="Space Grotesk" pitchFamily="34" charset="0"/>
                <a:ea typeface="Space Grotesk" pitchFamily="34" charset="-122"/>
                <a:cs typeface="Space Grotesk" pitchFamily="34" charset="-120"/>
              </a:rPr>
              <a:t>: su href apunta al id del carrusel.</a:t>
            </a:r>
            <a:endParaRPr lang="en-US" sz="1400" dirty="0"/>
          </a:p>
        </p:txBody>
      </p:sp>
      <p:sp>
        <p:nvSpPr>
          <p:cNvPr id="13" name="Text 11"/>
          <p:cNvSpPr/>
          <p:nvPr/>
        </p:nvSpPr>
        <p:spPr>
          <a:xfrm>
            <a:off x="812800" y="3253680"/>
            <a:ext cx="10566400" cy="2123281"/>
          </a:xfrm>
          <a:prstGeom prst="roundRect">
            <a:avLst>
              <a:gd name="adj" fmla="val 4785"/>
            </a:avLst>
          </a:prstGeom>
          <a:solidFill>
            <a:srgbClr val="1E1433"/>
          </a:solidFill>
          <a:ln/>
        </p:spPr>
        <p:txBody>
          <a:bodyPr wrap="none" lIns="173442" tIns="148042" rIns="0" bIns="122642" rtlCol="0" anchor="t">
            <a:normAutofit/>
          </a:bodyPr>
          <a:lstStyle/>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&lt;div </a:t>
            </a:r>
            <a:r>
              <a:rPr lang="en-US" sz="1200" dirty="0">
                <a:solidFill>
                  <a:srgbClr val="FFE484"/>
                </a:solidFill>
                <a:latin typeface="JetBrains Mono" pitchFamily="49" charset="0"/>
                <a:ea typeface="JetBrains Mono" pitchFamily="49" charset="-122"/>
                <a:cs typeface="JetBrains Mono" pitchFamily="49" charset="-120"/>
              </a:rPr>
              <a:t>id="miCarrusel"</a:t>
            </a:r>
            <a:r>
              <a:rPr lang="en-US" sz="1200" dirty="0">
                <a:solidFill>
                  <a:srgbClr val="F7F4FB"/>
                </a:solidFill>
                <a:latin typeface="JetBrains Mono" pitchFamily="49" charset="0"/>
                <a:ea typeface="JetBrains Mono" pitchFamily="49" charset="-122"/>
                <a:cs typeface="JetBrains Mono" pitchFamily="49" charset="-120"/>
              </a:rPr>
              <a:t> class="carousel slide" </a:t>
            </a:r>
            <a:r>
              <a:rPr lang="en-US" sz="1200" dirty="0">
                <a:solidFill>
                  <a:srgbClr val="FFE484"/>
                </a:solidFill>
                <a:latin typeface="JetBrains Mono" pitchFamily="49" charset="0"/>
                <a:ea typeface="JetBrains Mono" pitchFamily="49" charset="-122"/>
                <a:cs typeface="JetBrains Mono" pitchFamily="49" charset="-120"/>
              </a:rPr>
              <a:t>data-ride="carousel"</a:t>
            </a:r>
            <a:r>
              <a:rPr lang="en-US" sz="1200" dirty="0">
                <a:solidFill>
                  <a:srgbClr val="F7F4FB"/>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 class="carousel-inner"&gt;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 class="carousel-item </a:t>
            </a:r>
            <a:r>
              <a:rPr lang="en-US" sz="1200" dirty="0">
                <a:solidFill>
                  <a:srgbClr val="FFE484"/>
                </a:solidFill>
                <a:latin typeface="JetBrains Mono" pitchFamily="49" charset="0"/>
                <a:ea typeface="JetBrains Mono" pitchFamily="49" charset="-122"/>
                <a:cs typeface="JetBrains Mono" pitchFamily="49" charset="-120"/>
              </a:rPr>
              <a:t>active</a:t>
            </a:r>
            <a:r>
              <a:rPr lang="en-US" sz="1200" dirty="0">
                <a:solidFill>
                  <a:srgbClr val="F7F4FB"/>
                </a:solidFill>
                <a:latin typeface="JetBrains Mono" pitchFamily="49" charset="0"/>
                <a:ea typeface="JetBrains Mono" pitchFamily="49" charset="-122"/>
                <a:cs typeface="JetBrains Mono" pitchFamily="49" charset="-120"/>
              </a:rPr>
              <a:t>"&gt;&lt;img class="d-block w-100" src="1.jpg"&gt;&lt;/div&gt;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 class="carousel-item"&gt;&lt;img class="d-block w-100" src="2.jpg"&gt;&lt;/div&gt;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&lt;/div&gt;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&lt;a class="carousel-control-prev" </a:t>
            </a:r>
            <a:r>
              <a:rPr lang="en-US" sz="1200" dirty="0">
                <a:solidFill>
                  <a:srgbClr val="FFE484"/>
                </a:solidFill>
                <a:latin typeface="JetBrains Mono" pitchFamily="49" charset="0"/>
                <a:ea typeface="JetBrains Mono" pitchFamily="49" charset="-122"/>
                <a:cs typeface="JetBrains Mono" pitchFamily="49" charset="-120"/>
              </a:rPr>
              <a:t>href="#miCarrusel"</a:t>
            </a:r>
            <a:r>
              <a:rPr lang="en-US" sz="1200" dirty="0">
                <a:solidFill>
                  <a:srgbClr val="F7F4FB"/>
                </a:solidFill>
                <a:latin typeface="JetBrains Mono" pitchFamily="49" charset="0"/>
                <a:ea typeface="JetBrains Mono" pitchFamily="49" charset="-122"/>
                <a:cs typeface="JetBrains Mono" pitchFamily="49" charset="-120"/>
              </a:rPr>
              <a:t> data-slide="prev"&gt;…&lt;/a&gt;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  &lt;a class="carousel-control-next" </a:t>
            </a:r>
            <a:r>
              <a:rPr lang="en-US" sz="1200" dirty="0">
                <a:solidFill>
                  <a:srgbClr val="FFE484"/>
                </a:solidFill>
                <a:latin typeface="JetBrains Mono" pitchFamily="49" charset="0"/>
                <a:ea typeface="JetBrains Mono" pitchFamily="49" charset="-122"/>
                <a:cs typeface="JetBrains Mono" pitchFamily="49" charset="-120"/>
              </a:rPr>
              <a:t>href="#miCarrusel"</a:t>
            </a:r>
            <a:r>
              <a:rPr lang="en-US" sz="1200" dirty="0">
                <a:solidFill>
                  <a:srgbClr val="F7F4FB"/>
                </a:solidFill>
                <a:latin typeface="JetBrains Mono" pitchFamily="49" charset="0"/>
                <a:ea typeface="JetBrains Mono" pitchFamily="49" charset="-122"/>
                <a:cs typeface="JetBrains Mono" pitchFamily="49" charset="-120"/>
              </a:rPr>
              <a:t> data-slide="next"&gt;…&lt;/a&gt;</a:t>
            </a:r>
            <a:endParaRPr lang="en-US" sz="1200" dirty="0"/>
          </a:p>
          <a:p>
            <a:pPr marL="0" indent="0" algn="l">
              <a:lnSpc>
                <a:spcPts val="1740"/>
              </a:lnSpc>
              <a:buNone/>
            </a:pPr>
            <a:r>
              <a:rPr lang="en-US" sz="1200" dirty="0">
                <a:solidFill>
                  <a:srgbClr val="F7F4FB"/>
                </a:solidFill>
                <a:latin typeface="JetBrains Mono" pitchFamily="49" charset="0"/>
                <a:ea typeface="JetBrains Mono" pitchFamily="49" charset="-122"/>
                <a:cs typeface="JetBrains Mono" pitchFamily="49" charset="-120"/>
              </a:rPr>
              <a:t>&lt;/div&gt;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Bootstrap Icons: más de 2,000 íconos gratis</a:t>
            </a:r>
            <a:endParaRPr lang="en-US" sz="3200" dirty="0"/>
          </a:p>
        </p:txBody>
      </p:sp>
      <p:sp>
        <p:nvSpPr>
          <p:cNvPr id="3" name="Text 1"/>
          <p:cNvSpPr/>
          <p:nvPr/>
        </p:nvSpPr>
        <p:spPr>
          <a:xfrm>
            <a:off x="812800" y="13359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458"/>
                </a:solidFill>
                <a:latin typeface="Space Grotesk" pitchFamily="34" charset="0"/>
                <a:ea typeface="Space Grotesk" pitchFamily="34" charset="-122"/>
                <a:cs typeface="Space Grotesk" pitchFamily="34" charset="-120"/>
              </a:rPr>
              <a:t>Una librería aparte, en icons.getbootstrap.com. Funciona con o sin Bootstrap.</a:t>
            </a:r>
            <a:endParaRPr lang="en-US" sz="1500" dirty="0"/>
          </a:p>
        </p:txBody>
      </p:sp>
      <p:sp>
        <p:nvSpPr>
          <p:cNvPr id="4" name="Text 2"/>
          <p:cNvSpPr/>
          <p:nvPr/>
        </p:nvSpPr>
        <p:spPr>
          <a:xfrm>
            <a:off x="812800" y="183128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952B3"/>
                </a:solidFill>
                <a:latin typeface="Space Grotesk" pitchFamily="34" charset="0"/>
                <a:ea typeface="Space Grotesk" pitchFamily="34" charset="-122"/>
                <a:cs typeface="Space Grotesk" pitchFamily="34" charset="-120"/>
              </a:rPr>
              <a:t>1 · Agrega este link en el &lt;head&gt;</a:t>
            </a:r>
            <a:endParaRPr lang="en-US" sz="1400" dirty="0"/>
          </a:p>
        </p:txBody>
      </p:sp>
      <p:sp>
        <p:nvSpPr>
          <p:cNvPr id="5" name="Text 3"/>
          <p:cNvSpPr/>
          <p:nvPr/>
        </p:nvSpPr>
        <p:spPr>
          <a:xfrm>
            <a:off x="812800" y="2156321"/>
            <a:ext cx="10566400" cy="533400"/>
          </a:xfrm>
          <a:prstGeom prst="roundRect">
            <a:avLst>
              <a:gd name="adj" fmla="val 19048"/>
            </a:avLst>
          </a:prstGeom>
          <a:solidFill>
            <a:srgbClr val="1E1433"/>
          </a:solidFill>
          <a:ln/>
        </p:spPr>
        <p:txBody>
          <a:bodyPr wrap="none" lIns="173442" tIns="122642" rIns="0" bIns="97242" rtlCol="0" anchor="t">
            <a:normAutofit/>
          </a:bodyPr>
          <a:lstStyle/>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&lt;link rel="stylesheet" href="https://cdn.jsdelivr.net/npm/</a:t>
            </a:r>
            <a:r>
              <a:rPr lang="en-US" sz="1200" dirty="0">
                <a:solidFill>
                  <a:srgbClr val="FFE484"/>
                </a:solidFill>
                <a:latin typeface="JetBrains Mono" pitchFamily="49" charset="0"/>
                <a:ea typeface="JetBrains Mono" pitchFamily="49" charset="-122"/>
                <a:cs typeface="JetBrains Mono" pitchFamily="49" charset="-120"/>
              </a:rPr>
              <a:t>bootstrap-icons@1</a:t>
            </a:r>
            <a:r>
              <a:rPr lang="en-US" sz="1200" dirty="0">
                <a:solidFill>
                  <a:srgbClr val="F7F4FB"/>
                </a:solidFill>
                <a:latin typeface="JetBrains Mono" pitchFamily="49" charset="0"/>
                <a:ea typeface="JetBrains Mono" pitchFamily="49" charset="-122"/>
                <a:cs typeface="JetBrains Mono" pitchFamily="49" charset="-120"/>
              </a:rPr>
              <a:t>/font/bootstrap-icons.min.css"&gt;</a:t>
            </a:r>
            <a:endParaRPr lang="en-US" sz="1200" dirty="0"/>
          </a:p>
        </p:txBody>
      </p:sp>
      <p:sp>
        <p:nvSpPr>
          <p:cNvPr id="6" name="Text 4"/>
          <p:cNvSpPr/>
          <p:nvPr/>
        </p:nvSpPr>
        <p:spPr>
          <a:xfrm>
            <a:off x="812800" y="2918321"/>
            <a:ext cx="769162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952B3"/>
                </a:solidFill>
                <a:latin typeface="Space Grotesk" pitchFamily="34" charset="0"/>
                <a:ea typeface="Space Grotesk" pitchFamily="34" charset="-122"/>
                <a:cs typeface="Space Grotesk" pitchFamily="34" charset="-120"/>
              </a:rPr>
              <a:t>2 · Copia el nombre del ícono y úsalo</a:t>
            </a:r>
            <a:endParaRPr lang="en-US" sz="1400" dirty="0"/>
          </a:p>
        </p:txBody>
      </p:sp>
      <p:sp>
        <p:nvSpPr>
          <p:cNvPr id="7" name="Text 5"/>
          <p:cNvSpPr/>
          <p:nvPr/>
        </p:nvSpPr>
        <p:spPr>
          <a:xfrm>
            <a:off x="812800" y="3243362"/>
            <a:ext cx="7467600" cy="762000"/>
          </a:xfrm>
          <a:prstGeom prst="roundRect">
            <a:avLst>
              <a:gd name="adj" fmla="val 13333"/>
            </a:avLst>
          </a:prstGeom>
          <a:solidFill>
            <a:srgbClr val="1E1433"/>
          </a:solidFill>
          <a:ln/>
        </p:spPr>
        <p:txBody>
          <a:bodyPr wrap="none" lIns="173442" tIns="122642" rIns="0" bIns="97242" rtlCol="0" anchor="t">
            <a:normAutofit/>
          </a:bodyPr>
          <a:lstStyle/>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&lt;i class="bi </a:t>
            </a:r>
            <a:r>
              <a:rPr lang="en-US" sz="1200" dirty="0">
                <a:solidFill>
                  <a:srgbClr val="FFE484"/>
                </a:solidFill>
                <a:latin typeface="JetBrains Mono" pitchFamily="49" charset="0"/>
                <a:ea typeface="JetBrains Mono" pitchFamily="49" charset="-122"/>
                <a:cs typeface="JetBrains Mono" pitchFamily="49" charset="-120"/>
              </a:rPr>
              <a:t>bi-house</a:t>
            </a:r>
            <a:r>
              <a:rPr lang="en-US" sz="1200" dirty="0">
                <a:solidFill>
                  <a:srgbClr val="F7F4FB"/>
                </a:solidFill>
                <a:latin typeface="JetBrains Mono" pitchFamily="49" charset="0"/>
                <a:ea typeface="JetBrains Mono" pitchFamily="49" charset="-122"/>
                <a:cs typeface="JetBrains Mono" pitchFamily="49" charset="-120"/>
              </a:rPr>
              <a:t>"&gt;&lt;/i&gt;</a:t>
            </a:r>
            <a:endParaRPr lang="en-US" sz="1200" dirty="0"/>
          </a:p>
          <a:p>
            <a:pPr marL="0" indent="0" algn="l">
              <a:lnSpc>
                <a:spcPts val="1800"/>
              </a:lnSpc>
              <a:buNone/>
            </a:pPr>
            <a:r>
              <a:rPr lang="en-US" sz="1200" dirty="0">
                <a:solidFill>
                  <a:srgbClr val="F7F4FB"/>
                </a:solidFill>
                <a:latin typeface="JetBrains Mono" pitchFamily="49" charset="0"/>
                <a:ea typeface="JetBrains Mono" pitchFamily="49" charset="-122"/>
                <a:cs typeface="JetBrains Mono" pitchFamily="49" charset="-120"/>
              </a:rPr>
              <a:t>&lt;i class="bi bi-search" style="font-size:2rem; color:purple"&gt;&lt;/i&gt;</a:t>
            </a:r>
            <a:endParaRPr lang="en-US" sz="1200" dirty="0"/>
          </a:p>
        </p:txBody>
      </p:sp>
      <p:sp>
        <p:nvSpPr>
          <p:cNvPr id="8" name="Text 6"/>
          <p:cNvSpPr/>
          <p:nvPr/>
        </p:nvSpPr>
        <p:spPr>
          <a:xfrm>
            <a:off x="812800" y="4081562"/>
            <a:ext cx="769162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Como es una fuente, el tamaño y el color se cambian con CSS, igual que un texto.</a:t>
            </a:r>
            <a:endParaRPr lang="en-US" sz="1300" dirty="0"/>
          </a:p>
        </p:txBody>
      </p:sp>
      <p:sp>
        <p:nvSpPr>
          <p:cNvPr id="9" name="Shape 7"/>
          <p:cNvSpPr/>
          <p:nvPr/>
        </p:nvSpPr>
        <p:spPr>
          <a:xfrm>
            <a:off x="8591550" y="2924671"/>
            <a:ext cx="867767"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10" name="Image 0" descr="Home"/>
          <p:cNvPicPr>
            <a:picLocks noChangeAspect="1"/>
          </p:cNvPicPr>
          <p:nvPr/>
        </p:nvPicPr>
        <p:blipFill>
          <a:blip r:embed="rId3"/>
          <a:srcRect/>
          <a:stretch/>
        </p:blipFill>
        <p:spPr>
          <a:xfrm>
            <a:off x="8873034" y="3032621"/>
            <a:ext cx="304800" cy="304800"/>
          </a:xfrm>
          <a:prstGeom prst="rect">
            <a:avLst/>
          </a:prstGeom>
        </p:spPr>
      </p:pic>
      <p:sp>
        <p:nvSpPr>
          <p:cNvPr id="11" name="Text 8"/>
          <p:cNvSpPr/>
          <p:nvPr/>
        </p:nvSpPr>
        <p:spPr>
          <a:xfrm>
            <a:off x="8754566" y="3388221"/>
            <a:ext cx="54173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house</a:t>
            </a:r>
            <a:endParaRPr lang="en-US" sz="1200" dirty="0"/>
          </a:p>
        </p:txBody>
      </p:sp>
      <p:sp>
        <p:nvSpPr>
          <p:cNvPr id="12" name="Shape 9"/>
          <p:cNvSpPr/>
          <p:nvPr/>
        </p:nvSpPr>
        <p:spPr>
          <a:xfrm>
            <a:off x="9548217" y="2924671"/>
            <a:ext cx="867866"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13" name="Image 1" descr="Search"/>
          <p:cNvPicPr>
            <a:picLocks noChangeAspect="1"/>
          </p:cNvPicPr>
          <p:nvPr/>
        </p:nvPicPr>
        <p:blipFill>
          <a:blip r:embed="rId4"/>
          <a:srcRect/>
          <a:stretch/>
        </p:blipFill>
        <p:spPr>
          <a:xfrm>
            <a:off x="9829701" y="3032621"/>
            <a:ext cx="304800" cy="304800"/>
          </a:xfrm>
          <a:prstGeom prst="rect">
            <a:avLst/>
          </a:prstGeom>
        </p:spPr>
      </p:pic>
      <p:sp>
        <p:nvSpPr>
          <p:cNvPr id="14" name="Text 10"/>
          <p:cNvSpPr/>
          <p:nvPr/>
        </p:nvSpPr>
        <p:spPr>
          <a:xfrm>
            <a:off x="9683611" y="3388221"/>
            <a:ext cx="596979"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search</a:t>
            </a:r>
            <a:endParaRPr lang="en-US" sz="1200" dirty="0"/>
          </a:p>
        </p:txBody>
      </p:sp>
      <p:sp>
        <p:nvSpPr>
          <p:cNvPr id="15" name="Shape 11"/>
          <p:cNvSpPr/>
          <p:nvPr/>
        </p:nvSpPr>
        <p:spPr>
          <a:xfrm>
            <a:off x="10504984" y="2924671"/>
            <a:ext cx="867866"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16" name="Image 2" descr="Star"/>
          <p:cNvPicPr>
            <a:picLocks noChangeAspect="1"/>
          </p:cNvPicPr>
          <p:nvPr/>
        </p:nvPicPr>
        <p:blipFill>
          <a:blip r:embed="rId5"/>
          <a:srcRect/>
          <a:stretch/>
        </p:blipFill>
        <p:spPr>
          <a:xfrm>
            <a:off x="10786467" y="3032621"/>
            <a:ext cx="304800" cy="304800"/>
          </a:xfrm>
          <a:prstGeom prst="rect">
            <a:avLst/>
          </a:prstGeom>
        </p:spPr>
      </p:pic>
      <p:sp>
        <p:nvSpPr>
          <p:cNvPr id="17" name="Text 12"/>
          <p:cNvSpPr/>
          <p:nvPr/>
        </p:nvSpPr>
        <p:spPr>
          <a:xfrm>
            <a:off x="10762883" y="3388221"/>
            <a:ext cx="3520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star</a:t>
            </a:r>
            <a:endParaRPr lang="en-US" sz="1200" dirty="0"/>
          </a:p>
        </p:txBody>
      </p:sp>
      <p:sp>
        <p:nvSpPr>
          <p:cNvPr id="18" name="Shape 13"/>
          <p:cNvSpPr/>
          <p:nvPr/>
        </p:nvSpPr>
        <p:spPr>
          <a:xfrm>
            <a:off x="8591550" y="3798391"/>
            <a:ext cx="867767"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19" name="Image 3" descr="Users"/>
          <p:cNvPicPr>
            <a:picLocks noChangeAspect="1"/>
          </p:cNvPicPr>
          <p:nvPr/>
        </p:nvPicPr>
        <p:blipFill>
          <a:blip r:embed="rId6"/>
          <a:srcRect/>
          <a:stretch/>
        </p:blipFill>
        <p:spPr>
          <a:xfrm>
            <a:off x="8873034" y="3906341"/>
            <a:ext cx="304800" cy="304800"/>
          </a:xfrm>
          <a:prstGeom prst="rect">
            <a:avLst/>
          </a:prstGeom>
        </p:spPr>
      </p:pic>
      <p:sp>
        <p:nvSpPr>
          <p:cNvPr id="20" name="Text 14"/>
          <p:cNvSpPr/>
          <p:nvPr/>
        </p:nvSpPr>
        <p:spPr>
          <a:xfrm>
            <a:off x="8720405" y="4261941"/>
            <a:ext cx="60995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people</a:t>
            </a:r>
            <a:endParaRPr lang="en-US" sz="1200" dirty="0"/>
          </a:p>
        </p:txBody>
      </p:sp>
      <p:sp>
        <p:nvSpPr>
          <p:cNvPr id="21" name="Shape 15"/>
          <p:cNvSpPr/>
          <p:nvPr/>
        </p:nvSpPr>
        <p:spPr>
          <a:xfrm>
            <a:off x="9548217" y="3798391"/>
            <a:ext cx="867866"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22" name="Image 4" descr="Lock"/>
          <p:cNvPicPr>
            <a:picLocks noChangeAspect="1"/>
          </p:cNvPicPr>
          <p:nvPr/>
        </p:nvPicPr>
        <p:blipFill>
          <a:blip r:embed="rId7"/>
          <a:srcRect/>
          <a:stretch/>
        </p:blipFill>
        <p:spPr>
          <a:xfrm>
            <a:off x="9829701" y="3906341"/>
            <a:ext cx="304800" cy="304800"/>
          </a:xfrm>
          <a:prstGeom prst="rect">
            <a:avLst/>
          </a:prstGeom>
        </p:spPr>
      </p:pic>
      <p:sp>
        <p:nvSpPr>
          <p:cNvPr id="23" name="Text 16"/>
          <p:cNvSpPr/>
          <p:nvPr/>
        </p:nvSpPr>
        <p:spPr>
          <a:xfrm>
            <a:off x="9799330" y="4261941"/>
            <a:ext cx="36564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lock</a:t>
            </a:r>
            <a:endParaRPr lang="en-US" sz="1200" dirty="0"/>
          </a:p>
        </p:txBody>
      </p:sp>
      <p:sp>
        <p:nvSpPr>
          <p:cNvPr id="24" name="Shape 17"/>
          <p:cNvSpPr/>
          <p:nvPr/>
        </p:nvSpPr>
        <p:spPr>
          <a:xfrm>
            <a:off x="10504984" y="3798391"/>
            <a:ext cx="867866" cy="784820"/>
          </a:xfrm>
          <a:prstGeom prst="roundRect">
            <a:avLst>
              <a:gd name="adj" fmla="val 8900"/>
            </a:avLst>
          </a:prstGeom>
          <a:solidFill>
            <a:srgbClr val="FFFFFF"/>
          </a:solidFill>
          <a:ln w="12700">
            <a:solidFill>
              <a:srgbClr val="E3DAF0"/>
            </a:solidFill>
            <a:prstDash val="solid"/>
          </a:ln>
        </p:spPr>
        <p:txBody>
          <a:bodyPr/>
          <a:lstStyle/>
          <a:p>
            <a:endParaRPr lang="en-US"/>
          </a:p>
        </p:txBody>
      </p:sp>
      <p:pic>
        <p:nvPicPr>
          <p:cNvPr id="25" name="Image 5" descr="Chat"/>
          <p:cNvPicPr>
            <a:picLocks noChangeAspect="1"/>
          </p:cNvPicPr>
          <p:nvPr/>
        </p:nvPicPr>
        <p:blipFill>
          <a:blip r:embed="rId8"/>
          <a:srcRect/>
          <a:stretch/>
        </p:blipFill>
        <p:spPr>
          <a:xfrm>
            <a:off x="10786467" y="3906341"/>
            <a:ext cx="304800" cy="304800"/>
          </a:xfrm>
          <a:prstGeom prst="rect">
            <a:avLst/>
          </a:prstGeom>
        </p:spPr>
      </p:pic>
      <p:sp>
        <p:nvSpPr>
          <p:cNvPr id="26" name="Text 18"/>
          <p:cNvSpPr/>
          <p:nvPr/>
        </p:nvSpPr>
        <p:spPr>
          <a:xfrm>
            <a:off x="10736342" y="4261941"/>
            <a:ext cx="40505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458"/>
                </a:solidFill>
                <a:latin typeface="Space Grotesk" pitchFamily="34" charset="0"/>
                <a:ea typeface="Space Grotesk" pitchFamily="34" charset="-122"/>
                <a:cs typeface="Space Grotesk" pitchFamily="34" charset="-120"/>
              </a:rPr>
              <a:t>chat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4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1433"/>
                </a:solidFill>
                <a:latin typeface="Space Grotesk" pitchFamily="34" charset="0"/>
                <a:ea typeface="Space Grotesk" pitchFamily="34" charset="-122"/>
                <a:cs typeface="Space Grotesk" pitchFamily="34" charset="-120"/>
              </a:rPr>
              <a:t>El flujo: buscar, copiar, pegar, personalizar</a:t>
            </a:r>
            <a:endParaRPr lang="en-US" sz="3200" dirty="0"/>
          </a:p>
        </p:txBody>
      </p:sp>
      <p:sp>
        <p:nvSpPr>
          <p:cNvPr id="3" name="Shape 1"/>
          <p:cNvSpPr/>
          <p:nvPr/>
        </p:nvSpPr>
        <p:spPr>
          <a:xfrm>
            <a:off x="819150" y="1621730"/>
            <a:ext cx="2559050" cy="1930202"/>
          </a:xfrm>
          <a:prstGeom prst="roundRect">
            <a:avLst>
              <a:gd name="adj" fmla="val 6251"/>
            </a:avLst>
          </a:prstGeom>
          <a:solidFill>
            <a:srgbClr val="FFFFFF"/>
          </a:solidFill>
          <a:ln w="12700">
            <a:solidFill>
              <a:srgbClr val="E3DAF0"/>
            </a:solidFill>
            <a:prstDash val="solid"/>
          </a:ln>
        </p:spPr>
        <p:txBody>
          <a:bodyPr/>
          <a:lstStyle/>
          <a:p>
            <a:endParaRPr lang="en-US"/>
          </a:p>
        </p:txBody>
      </p:sp>
      <p:sp>
        <p:nvSpPr>
          <p:cNvPr id="4" name="Text 2"/>
          <p:cNvSpPr/>
          <p:nvPr/>
        </p:nvSpPr>
        <p:spPr>
          <a:xfrm>
            <a:off x="1028700" y="1831280"/>
            <a:ext cx="220414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7952B3"/>
                </a:solidFill>
                <a:latin typeface="Space Grotesk" pitchFamily="34" charset="0"/>
                <a:ea typeface="Space Grotesk" pitchFamily="34" charset="-122"/>
                <a:cs typeface="Space Grotesk" pitchFamily="34" charset="-120"/>
              </a:rPr>
              <a:t>1</a:t>
            </a:r>
            <a:endParaRPr lang="en-US" sz="3200" dirty="0"/>
          </a:p>
        </p:txBody>
      </p:sp>
      <p:sp>
        <p:nvSpPr>
          <p:cNvPr id="5" name="Text 3"/>
          <p:cNvSpPr/>
          <p:nvPr/>
        </p:nvSpPr>
        <p:spPr>
          <a:xfrm>
            <a:off x="1028700" y="2313880"/>
            <a:ext cx="2204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433"/>
                </a:solidFill>
                <a:latin typeface="Space Grotesk" pitchFamily="34" charset="0"/>
                <a:ea typeface="Space Grotesk" pitchFamily="34" charset="-122"/>
                <a:cs typeface="Space Grotesk" pitchFamily="34" charset="-120"/>
              </a:rPr>
              <a:t>Busca</a:t>
            </a:r>
            <a:endParaRPr lang="en-US" sz="1700" dirty="0"/>
          </a:p>
        </p:txBody>
      </p:sp>
      <p:sp>
        <p:nvSpPr>
          <p:cNvPr id="6" name="Text 4"/>
          <p:cNvSpPr/>
          <p:nvPr/>
        </p:nvSpPr>
        <p:spPr>
          <a:xfrm>
            <a:off x="1028700" y="2649141"/>
            <a:ext cx="2204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Entra a Components en la documentación y elige la pieza.</a:t>
            </a:r>
            <a:endParaRPr lang="en-US" sz="1300" dirty="0"/>
          </a:p>
        </p:txBody>
      </p:sp>
      <p:sp>
        <p:nvSpPr>
          <p:cNvPr id="7" name="Shape 5"/>
          <p:cNvSpPr/>
          <p:nvPr/>
        </p:nvSpPr>
        <p:spPr>
          <a:xfrm>
            <a:off x="3492500" y="1621730"/>
            <a:ext cx="2559050" cy="1930202"/>
          </a:xfrm>
          <a:prstGeom prst="roundRect">
            <a:avLst>
              <a:gd name="adj" fmla="val 6251"/>
            </a:avLst>
          </a:prstGeom>
          <a:solidFill>
            <a:srgbClr val="FFFFFF"/>
          </a:solidFill>
          <a:ln w="12700">
            <a:solidFill>
              <a:srgbClr val="E3DAF0"/>
            </a:solidFill>
            <a:prstDash val="solid"/>
          </a:ln>
        </p:spPr>
        <p:txBody>
          <a:bodyPr/>
          <a:lstStyle/>
          <a:p>
            <a:endParaRPr lang="en-US"/>
          </a:p>
        </p:txBody>
      </p:sp>
      <p:sp>
        <p:nvSpPr>
          <p:cNvPr id="8" name="Text 6"/>
          <p:cNvSpPr/>
          <p:nvPr/>
        </p:nvSpPr>
        <p:spPr>
          <a:xfrm>
            <a:off x="3702050" y="1831280"/>
            <a:ext cx="220414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7952B3"/>
                </a:solidFill>
                <a:latin typeface="Space Grotesk" pitchFamily="34" charset="0"/>
                <a:ea typeface="Space Grotesk" pitchFamily="34" charset="-122"/>
                <a:cs typeface="Space Grotesk" pitchFamily="34" charset="-120"/>
              </a:rPr>
              <a:t>2</a:t>
            </a:r>
            <a:endParaRPr lang="en-US" sz="3200" dirty="0"/>
          </a:p>
        </p:txBody>
      </p:sp>
      <p:sp>
        <p:nvSpPr>
          <p:cNvPr id="9" name="Text 7"/>
          <p:cNvSpPr/>
          <p:nvPr/>
        </p:nvSpPr>
        <p:spPr>
          <a:xfrm>
            <a:off x="3702050" y="2313880"/>
            <a:ext cx="2204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433"/>
                </a:solidFill>
                <a:latin typeface="Space Grotesk" pitchFamily="34" charset="0"/>
                <a:ea typeface="Space Grotesk" pitchFamily="34" charset="-122"/>
                <a:cs typeface="Space Grotesk" pitchFamily="34" charset="-120"/>
              </a:rPr>
              <a:t>Copia</a:t>
            </a:r>
            <a:endParaRPr lang="en-US" sz="1700" dirty="0"/>
          </a:p>
        </p:txBody>
      </p:sp>
      <p:sp>
        <p:nvSpPr>
          <p:cNvPr id="10" name="Text 8"/>
          <p:cNvSpPr/>
          <p:nvPr/>
        </p:nvSpPr>
        <p:spPr>
          <a:xfrm>
            <a:off x="3702050" y="2649141"/>
            <a:ext cx="2204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Debajo de cada ejemplo está su código con botón Copy.</a:t>
            </a:r>
            <a:endParaRPr lang="en-US" sz="1300" dirty="0"/>
          </a:p>
        </p:txBody>
      </p:sp>
      <p:sp>
        <p:nvSpPr>
          <p:cNvPr id="11" name="Shape 9"/>
          <p:cNvSpPr/>
          <p:nvPr/>
        </p:nvSpPr>
        <p:spPr>
          <a:xfrm>
            <a:off x="6165850" y="1621730"/>
            <a:ext cx="2559050" cy="1930202"/>
          </a:xfrm>
          <a:prstGeom prst="roundRect">
            <a:avLst>
              <a:gd name="adj" fmla="val 6251"/>
            </a:avLst>
          </a:prstGeom>
          <a:solidFill>
            <a:srgbClr val="FFFFFF"/>
          </a:solidFill>
          <a:ln w="12700">
            <a:solidFill>
              <a:srgbClr val="E3DAF0"/>
            </a:solidFill>
            <a:prstDash val="solid"/>
          </a:ln>
        </p:spPr>
        <p:txBody>
          <a:bodyPr/>
          <a:lstStyle/>
          <a:p>
            <a:endParaRPr lang="en-US"/>
          </a:p>
        </p:txBody>
      </p:sp>
      <p:sp>
        <p:nvSpPr>
          <p:cNvPr id="12" name="Text 10"/>
          <p:cNvSpPr/>
          <p:nvPr/>
        </p:nvSpPr>
        <p:spPr>
          <a:xfrm>
            <a:off x="6375400" y="1831280"/>
            <a:ext cx="220414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7952B3"/>
                </a:solidFill>
                <a:latin typeface="Space Grotesk" pitchFamily="34" charset="0"/>
                <a:ea typeface="Space Grotesk" pitchFamily="34" charset="-122"/>
                <a:cs typeface="Space Grotesk" pitchFamily="34" charset="-120"/>
              </a:rPr>
              <a:t>3</a:t>
            </a:r>
            <a:endParaRPr lang="en-US" sz="3200" dirty="0"/>
          </a:p>
        </p:txBody>
      </p:sp>
      <p:sp>
        <p:nvSpPr>
          <p:cNvPr id="13" name="Text 11"/>
          <p:cNvSpPr/>
          <p:nvPr/>
        </p:nvSpPr>
        <p:spPr>
          <a:xfrm>
            <a:off x="6375400" y="2313880"/>
            <a:ext cx="2204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433"/>
                </a:solidFill>
                <a:latin typeface="Space Grotesk" pitchFamily="34" charset="0"/>
                <a:ea typeface="Space Grotesk" pitchFamily="34" charset="-122"/>
                <a:cs typeface="Space Grotesk" pitchFamily="34" charset="-120"/>
              </a:rPr>
              <a:t>Pega</a:t>
            </a:r>
            <a:endParaRPr lang="en-US" sz="1700" dirty="0"/>
          </a:p>
        </p:txBody>
      </p:sp>
      <p:sp>
        <p:nvSpPr>
          <p:cNvPr id="14" name="Text 12"/>
          <p:cNvSpPr/>
          <p:nvPr/>
        </p:nvSpPr>
        <p:spPr>
          <a:xfrm>
            <a:off x="6375400" y="2649141"/>
            <a:ext cx="2204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458"/>
                </a:solidFill>
                <a:latin typeface="Space Grotesk" pitchFamily="34" charset="0"/>
                <a:ea typeface="Space Grotesk" pitchFamily="34" charset="-122"/>
                <a:cs typeface="Space Grotesk" pitchFamily="34" charset="-120"/>
              </a:rPr>
              <a:t>Dentro del &lt;body&gt; de tu plantilla, donde quieras que aparezca.</a:t>
            </a:r>
            <a:endParaRPr lang="en-US" sz="1300" dirty="0"/>
          </a:p>
        </p:txBody>
      </p:sp>
      <p:sp>
        <p:nvSpPr>
          <p:cNvPr id="15" name="Shape 13"/>
          <p:cNvSpPr/>
          <p:nvPr/>
        </p:nvSpPr>
        <p:spPr>
          <a:xfrm>
            <a:off x="8832850" y="1615380"/>
            <a:ext cx="2546350" cy="1942902"/>
          </a:xfrm>
          <a:prstGeom prst="roundRect">
            <a:avLst>
              <a:gd name="adj" fmla="val 6537"/>
            </a:avLst>
          </a:prstGeom>
          <a:solidFill>
            <a:srgbClr val="1E1433"/>
          </a:solidFill>
          <a:ln/>
        </p:spPr>
        <p:txBody>
          <a:bodyPr/>
          <a:lstStyle/>
          <a:p>
            <a:endParaRPr lang="en-US"/>
          </a:p>
        </p:txBody>
      </p:sp>
      <p:sp>
        <p:nvSpPr>
          <p:cNvPr id="16" name="Text 14"/>
          <p:cNvSpPr/>
          <p:nvPr/>
        </p:nvSpPr>
        <p:spPr>
          <a:xfrm>
            <a:off x="9036050" y="1818580"/>
            <a:ext cx="220414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E484"/>
                </a:solidFill>
                <a:latin typeface="Space Grotesk" pitchFamily="34" charset="0"/>
                <a:ea typeface="Space Grotesk" pitchFamily="34" charset="-122"/>
                <a:cs typeface="Space Grotesk" pitchFamily="34" charset="-120"/>
              </a:rPr>
              <a:t>4</a:t>
            </a:r>
            <a:endParaRPr lang="en-US" sz="3200" dirty="0"/>
          </a:p>
        </p:txBody>
      </p:sp>
      <p:sp>
        <p:nvSpPr>
          <p:cNvPr id="17" name="Text 15"/>
          <p:cNvSpPr/>
          <p:nvPr/>
        </p:nvSpPr>
        <p:spPr>
          <a:xfrm>
            <a:off x="9036050" y="2301180"/>
            <a:ext cx="2204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FB"/>
                </a:solidFill>
                <a:latin typeface="Space Grotesk" pitchFamily="34" charset="0"/>
                <a:ea typeface="Space Grotesk" pitchFamily="34" charset="-122"/>
                <a:cs typeface="Space Grotesk" pitchFamily="34" charset="-120"/>
              </a:rPr>
              <a:t>Personaliza</a:t>
            </a:r>
            <a:endParaRPr lang="en-US" sz="1700" dirty="0"/>
          </a:p>
        </p:txBody>
      </p:sp>
      <p:sp>
        <p:nvSpPr>
          <p:cNvPr id="18" name="Text 16"/>
          <p:cNvSpPr/>
          <p:nvPr/>
        </p:nvSpPr>
        <p:spPr>
          <a:xfrm>
            <a:off x="9036050" y="2636441"/>
            <a:ext cx="2204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CFEA"/>
                </a:solidFill>
                <a:latin typeface="Space Grotesk" pitchFamily="34" charset="0"/>
                <a:ea typeface="Space Grotesk" pitchFamily="34" charset="-122"/>
                <a:cs typeface="Space Grotesk" pitchFamily="34" charset="-120"/>
              </a:rPr>
              <a:t>Textos, imágenes y colores con clases como bg-dark o text-white.</a:t>
            </a:r>
            <a:endParaRPr lang="en-US" sz="1300" dirty="0"/>
          </a:p>
        </p:txBody>
      </p:sp>
      <p:sp>
        <p:nvSpPr>
          <p:cNvPr id="19" name="Shape 17"/>
          <p:cNvSpPr/>
          <p:nvPr/>
        </p:nvSpPr>
        <p:spPr>
          <a:xfrm>
            <a:off x="812800" y="3913882"/>
            <a:ext cx="10566400" cy="802481"/>
          </a:xfrm>
          <a:prstGeom prst="roundRect">
            <a:avLst>
              <a:gd name="adj" fmla="val 9496"/>
            </a:avLst>
          </a:prstGeom>
          <a:solidFill>
            <a:srgbClr val="FFF4C2"/>
          </a:solidFill>
          <a:ln/>
        </p:spPr>
        <p:txBody>
          <a:bodyPr/>
          <a:lstStyle/>
          <a:p>
            <a:endParaRPr lang="en-US"/>
          </a:p>
        </p:txBody>
      </p:sp>
      <p:sp>
        <p:nvSpPr>
          <p:cNvPr id="20" name="Shape 18"/>
          <p:cNvSpPr/>
          <p:nvPr/>
        </p:nvSpPr>
        <p:spPr>
          <a:xfrm>
            <a:off x="812800" y="3913882"/>
            <a:ext cx="10566400" cy="802481"/>
          </a:xfrm>
          <a:custGeom>
            <a:avLst/>
            <a:gdLst/>
            <a:ahLst/>
            <a:cxnLst/>
            <a:rect l="l" t="t" r="r" b="b"/>
            <a:pathLst>
              <a:path w="10566400" h="802481">
                <a:moveTo>
                  <a:pt x="76200" y="802481"/>
                </a:moveTo>
                <a:lnTo>
                  <a:pt x="76200" y="802481"/>
                </a:lnTo>
                <a:arcTo wR="76200" hR="76200" stAng="5400000" swAng="5400000"/>
                <a:lnTo>
                  <a:pt x="0" y="76200"/>
                </a:lnTo>
                <a:arcTo wR="76200" hR="76200" stAng="10800000" swAng="5400000"/>
                <a:lnTo>
                  <a:pt x="76200" y="0"/>
                </a:lnTo>
                <a:arcTo wR="25400" hR="76200" stAng="16200000" swAng="-5400000"/>
                <a:lnTo>
                  <a:pt x="50800" y="726281"/>
                </a:lnTo>
                <a:arcTo wR="25400" hR="76200" stAng="10800000" swAng="-5400000"/>
                <a:close/>
              </a:path>
            </a:pathLst>
          </a:custGeom>
          <a:solidFill>
            <a:srgbClr val="E0B400"/>
          </a:solidFill>
          <a:ln/>
        </p:spPr>
        <p:txBody>
          <a:bodyPr/>
          <a:lstStyle/>
          <a:p>
            <a:endParaRPr lang="en-US"/>
          </a:p>
        </p:txBody>
      </p:sp>
      <p:pic>
        <p:nvPicPr>
          <p:cNvPr id="21" name="Image 0" descr="Warning"/>
          <p:cNvPicPr>
            <a:picLocks noChangeAspect="1"/>
          </p:cNvPicPr>
          <p:nvPr/>
        </p:nvPicPr>
        <p:blipFill>
          <a:blip r:embed="rId3"/>
          <a:srcRect l="-1101" r="-1101"/>
          <a:stretch/>
        </p:blipFill>
        <p:spPr>
          <a:xfrm>
            <a:off x="1066800" y="4188123"/>
            <a:ext cx="142776" cy="254000"/>
          </a:xfrm>
          <a:prstGeom prst="rect">
            <a:avLst/>
          </a:prstGeom>
        </p:spPr>
      </p:pic>
      <p:sp>
        <p:nvSpPr>
          <p:cNvPr id="22" name="Text 19"/>
          <p:cNvSpPr/>
          <p:nvPr/>
        </p:nvSpPr>
        <p:spPr>
          <a:xfrm>
            <a:off x="1336576" y="4066282"/>
            <a:ext cx="10134607"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3B00"/>
                </a:solidFill>
                <a:latin typeface="Space Grotesk" pitchFamily="34" charset="0"/>
                <a:ea typeface="Space Grotesk" pitchFamily="34" charset="-122"/>
                <a:cs typeface="Space Grotesk" pitchFamily="34" charset="-120"/>
              </a:rPr>
              <a:t>Trampa común:</a:t>
            </a:r>
            <a:r>
              <a:rPr lang="en-US" sz="1400" dirty="0">
                <a:solidFill>
                  <a:srgbClr val="4A3B00"/>
                </a:solidFill>
                <a:latin typeface="Space Grotesk" pitchFamily="34" charset="0"/>
                <a:ea typeface="Space Grotesk" pitchFamily="34" charset="-122"/>
                <a:cs typeface="Space Grotesk" pitchFamily="34" charset="-120"/>
              </a:rPr>
              <a:t> si pegas dos carruseles o dos menús, cambia el id del segundo y también el href o data-target que lo apunta. Dos elementos con el mismo id hacen que los controles muevan el equivocado.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E143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4FB"/>
                </a:solidFill>
                <a:latin typeface="Space Grotesk" pitchFamily="34" charset="0"/>
                <a:ea typeface="Space Grotesk" pitchFamily="34" charset="-122"/>
                <a:cs typeface="Space Grotesk" pitchFamily="34" charset="-120"/>
              </a:rPr>
              <a:t>En resumen</a:t>
            </a:r>
            <a:endParaRPr lang="en-US" sz="3200" dirty="0"/>
          </a:p>
        </p:txBody>
      </p:sp>
      <p:sp>
        <p:nvSpPr>
          <p:cNvPr id="3" name="Shape 1"/>
          <p:cNvSpPr/>
          <p:nvPr/>
        </p:nvSpPr>
        <p:spPr>
          <a:xfrm>
            <a:off x="812800" y="2965549"/>
            <a:ext cx="3386634" cy="0"/>
          </a:xfrm>
          <a:prstGeom prst="line">
            <a:avLst/>
          </a:prstGeom>
          <a:noFill/>
          <a:ln w="38100">
            <a:solidFill>
              <a:srgbClr val="FFE484"/>
            </a:solidFill>
            <a:prstDash val="solid"/>
          </a:ln>
        </p:spPr>
        <p:txBody>
          <a:bodyPr/>
          <a:lstStyle/>
          <a:p>
            <a:endParaRPr lang="en-US"/>
          </a:p>
        </p:txBody>
      </p:sp>
      <p:sp>
        <p:nvSpPr>
          <p:cNvPr id="4" name="Text 2"/>
          <p:cNvSpPr/>
          <p:nvPr/>
        </p:nvSpPr>
        <p:spPr>
          <a:xfrm>
            <a:off x="812800" y="3187799"/>
            <a:ext cx="348823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FB"/>
                </a:solidFill>
                <a:latin typeface="Space Grotesk" pitchFamily="34" charset="0"/>
                <a:ea typeface="Space Grotesk" pitchFamily="34" charset="-122"/>
                <a:cs typeface="Space Grotesk" pitchFamily="34" charset="-120"/>
              </a:rPr>
              <a:t>Piezas listas</a:t>
            </a:r>
            <a:endParaRPr lang="en-US" sz="2000" dirty="0"/>
          </a:p>
        </p:txBody>
      </p:sp>
      <p:sp>
        <p:nvSpPr>
          <p:cNvPr id="5" name="Text 3"/>
          <p:cNvSpPr/>
          <p:nvPr/>
        </p:nvSpPr>
        <p:spPr>
          <a:xfrm>
            <a:off x="812800" y="3594199"/>
            <a:ext cx="348823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9CFEA"/>
                </a:solidFill>
                <a:latin typeface="Space Grotesk" pitchFamily="34" charset="0"/>
                <a:ea typeface="Space Grotesk" pitchFamily="34" charset="-122"/>
                <a:cs typeface="Space Grotesk" pitchFamily="34" charset="-120"/>
              </a:rPr>
              <a:t>CSS y JS ya diseñados: tú solo usas clases.</a:t>
            </a:r>
            <a:endParaRPr lang="en-US" sz="1400" dirty="0"/>
          </a:p>
        </p:txBody>
      </p:sp>
      <p:sp>
        <p:nvSpPr>
          <p:cNvPr id="6" name="Shape 4"/>
          <p:cNvSpPr/>
          <p:nvPr/>
        </p:nvSpPr>
        <p:spPr>
          <a:xfrm>
            <a:off x="4402634" y="2965549"/>
            <a:ext cx="3386733" cy="0"/>
          </a:xfrm>
          <a:prstGeom prst="line">
            <a:avLst/>
          </a:prstGeom>
          <a:noFill/>
          <a:ln w="38100">
            <a:solidFill>
              <a:srgbClr val="FFE484"/>
            </a:solidFill>
            <a:prstDash val="solid"/>
          </a:ln>
        </p:spPr>
        <p:txBody>
          <a:bodyPr/>
          <a:lstStyle/>
          <a:p>
            <a:endParaRPr lang="en-US"/>
          </a:p>
        </p:txBody>
      </p:sp>
      <p:sp>
        <p:nvSpPr>
          <p:cNvPr id="7" name="Text 5"/>
          <p:cNvSpPr/>
          <p:nvPr/>
        </p:nvSpPr>
        <p:spPr>
          <a:xfrm>
            <a:off x="4402634" y="3187799"/>
            <a:ext cx="348833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FB"/>
                </a:solidFill>
                <a:latin typeface="Space Grotesk" pitchFamily="34" charset="0"/>
                <a:ea typeface="Space Grotesk" pitchFamily="34" charset="-122"/>
                <a:cs typeface="Space Grotesk" pitchFamily="34" charset="-120"/>
              </a:rPr>
              <a:t>Se instala en 2 pasos</a:t>
            </a:r>
            <a:endParaRPr lang="en-US" sz="2000" dirty="0"/>
          </a:p>
        </p:txBody>
      </p:sp>
      <p:sp>
        <p:nvSpPr>
          <p:cNvPr id="8" name="Text 6"/>
          <p:cNvSpPr/>
          <p:nvPr/>
        </p:nvSpPr>
        <p:spPr>
          <a:xfrm>
            <a:off x="4402634" y="3594199"/>
            <a:ext cx="3488335"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9CFEA"/>
                </a:solidFill>
                <a:latin typeface="Space Grotesk" pitchFamily="34" charset="0"/>
                <a:ea typeface="Space Grotesk" pitchFamily="34" charset="-122"/>
                <a:cs typeface="Space Grotesk" pitchFamily="34" charset="-120"/>
              </a:rPr>
              <a:t>Link del CSS en el head y scripts en orden antes de cerrar el body.</a:t>
            </a:r>
            <a:endParaRPr lang="en-US" sz="1400" dirty="0"/>
          </a:p>
        </p:txBody>
      </p:sp>
      <p:sp>
        <p:nvSpPr>
          <p:cNvPr id="9" name="Shape 7"/>
          <p:cNvSpPr/>
          <p:nvPr/>
        </p:nvSpPr>
        <p:spPr>
          <a:xfrm>
            <a:off x="7992566" y="2965549"/>
            <a:ext cx="3386634" cy="0"/>
          </a:xfrm>
          <a:prstGeom prst="line">
            <a:avLst/>
          </a:prstGeom>
          <a:noFill/>
          <a:ln w="38100">
            <a:solidFill>
              <a:srgbClr val="FFE484"/>
            </a:solidFill>
            <a:prstDash val="solid"/>
          </a:ln>
        </p:spPr>
        <p:txBody>
          <a:bodyPr/>
          <a:lstStyle/>
          <a:p>
            <a:endParaRPr lang="en-US"/>
          </a:p>
        </p:txBody>
      </p:sp>
      <p:sp>
        <p:nvSpPr>
          <p:cNvPr id="10" name="Text 8"/>
          <p:cNvSpPr/>
          <p:nvPr/>
        </p:nvSpPr>
        <p:spPr>
          <a:xfrm>
            <a:off x="7992566" y="3187799"/>
            <a:ext cx="348823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FB"/>
                </a:solidFill>
                <a:latin typeface="Space Grotesk" pitchFamily="34" charset="0"/>
                <a:ea typeface="Space Grotesk" pitchFamily="34" charset="-122"/>
                <a:cs typeface="Space Grotesk" pitchFamily="34" charset="-120"/>
              </a:rPr>
              <a:t>Copia y adapta</a:t>
            </a:r>
            <a:endParaRPr lang="en-US" sz="2000" dirty="0"/>
          </a:p>
        </p:txBody>
      </p:sp>
      <p:sp>
        <p:nvSpPr>
          <p:cNvPr id="11" name="Text 9"/>
          <p:cNvSpPr/>
          <p:nvPr/>
        </p:nvSpPr>
        <p:spPr>
          <a:xfrm>
            <a:off x="7992566" y="3594199"/>
            <a:ext cx="348823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9CFEA"/>
                </a:solidFill>
                <a:latin typeface="Space Grotesk" pitchFamily="34" charset="0"/>
                <a:ea typeface="Space Grotesk" pitchFamily="34" charset="-122"/>
                <a:cs typeface="Space Grotesk" pitchFamily="34" charset="-120"/>
              </a:rPr>
              <a:t>Navbar, carrusel e íconos salen de la doc; cambia textos, colores e ids.</a:t>
            </a:r>
            <a:endParaRPr lang="en-US" sz="1400" dirty="0"/>
          </a:p>
        </p:txBody>
      </p:sp>
      <p:sp>
        <p:nvSpPr>
          <p:cNvPr id="12" name="Text 10"/>
          <p:cNvSpPr/>
          <p:nvPr/>
        </p:nvSpPr>
        <p:spPr>
          <a:xfrm>
            <a:off x="812800" y="5796359"/>
            <a:ext cx="270033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E484"/>
                </a:solidFill>
                <a:latin typeface="Space Grotesk" pitchFamily="34" charset="0"/>
                <a:ea typeface="Space Grotesk" pitchFamily="34" charset="-122"/>
                <a:cs typeface="Space Grotesk" pitchFamily="34" charset="-120"/>
              </a:rPr>
              <a:t>getbootstrap.com/docs/4.0</a:t>
            </a:r>
            <a:endParaRPr lang="en-US" sz="1400" dirty="0"/>
          </a:p>
        </p:txBody>
      </p:sp>
      <p:sp>
        <p:nvSpPr>
          <p:cNvPr id="13" name="Text 11"/>
          <p:cNvSpPr/>
          <p:nvPr/>
        </p:nvSpPr>
        <p:spPr>
          <a:xfrm>
            <a:off x="3513138" y="5796359"/>
            <a:ext cx="24985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E484"/>
                </a:solidFill>
                <a:latin typeface="Space Grotesk" pitchFamily="34" charset="0"/>
                <a:ea typeface="Space Grotesk" pitchFamily="34" charset="-122"/>
                <a:cs typeface="Space Grotesk" pitchFamily="34" charset="-120"/>
              </a:rPr>
              <a:t>icons.getbootstrap.com</a:t>
            </a:r>
            <a:endParaRPr lang="en-US" sz="1400" dirty="0"/>
          </a:p>
        </p:txBody>
      </p:sp>
    </p:spTree>
  </p:cSld>
  <p:clrMapOvr>
    <a:masterClrMapping/>
  </p:clrMapOvr>
</p:sld>
</file>

<file path=ppt/theme/theme1.xml><?xml version="1.0" encoding="utf-8"?>
<a:theme xmlns:a="http://schemas.openxmlformats.org/drawingml/2006/main" name="¿Qué es Bootstrap?">
  <a:themeElements>
    <a:clrScheme name="¿Qué es Bootstrap?">
      <a:dk1>
        <a:srgbClr val="1E1433"/>
      </a:dk1>
      <a:lt1>
        <a:srgbClr val="F7F4FB"/>
      </a:lt1>
      <a:dk2>
        <a:srgbClr val="544C65"/>
      </a:dk2>
      <a:lt2>
        <a:srgbClr val="E1DEE7"/>
      </a:lt2>
      <a:accent1>
        <a:srgbClr val="563D7C"/>
      </a:accent1>
      <a:accent2>
        <a:srgbClr val="7952B3"/>
      </a:accent2>
      <a:accent3>
        <a:srgbClr val="FFE484"/>
      </a:accent3>
      <a:accent4>
        <a:srgbClr val="FFF4C2"/>
      </a:accent4>
      <a:accent5>
        <a:srgbClr val="9C88BE"/>
      </a:accent5>
      <a:accent6>
        <a:srgbClr val="4A3B00"/>
      </a:accent6>
      <a:hlink>
        <a:srgbClr val="0563C1"/>
      </a:hlink>
      <a:folHlink>
        <a:srgbClr val="954F72"/>
      </a:folHlink>
    </a:clrScheme>
    <a:fontScheme name="¿Qué es Bootstrap?">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1538</Words>
  <Application>Microsoft Office PowerPoint</Application>
  <PresentationFormat>Widescreen</PresentationFormat>
  <Paragraphs>178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Space Grotesk</vt:lpstr>
      <vt:lpstr>JetBrains Mono</vt:lpstr>
      <vt:lpstr>¿Qué es Bootstrap?</vt:lpstr>
      <vt:lpstr>¿Qué es Bootstrap?</vt:lpstr>
      <vt:lpstr>Un kit de piezas para construir webs</vt:lpstr>
      <vt:lpstr>Cómo agregarlo: dos pasos por CDN</vt:lpstr>
      <vt:lpstr>La plantilla de inicio</vt:lpstr>
      <vt:lpstr>Componentes: 21 piezas listas</vt:lpstr>
      <vt:lpstr>Navbar: el menú de tu sitio</vt:lpstr>
      <vt:lpstr>Carrusel: imágenes que se deslizan</vt:lpstr>
      <vt:lpstr>Bootstrap Icons: más de 2,000 íconos gratis</vt:lpstr>
      <vt:lpstr>El flujo: buscar, copiar, pegar, personalizar</vt:lpstr>
      <vt:lpstr>En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es Bootstrap?</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Jair Morales</cp:lastModifiedBy>
  <cp:revision>2</cp:revision>
  <dcterms:created xsi:type="dcterms:W3CDTF">2026-10-21T04:28:18Z</dcterms:created>
  <dcterms:modified xsi:type="dcterms:W3CDTF">2026-10-21T04:30:19Z</dcterms:modified>
</cp:coreProperties>
</file>